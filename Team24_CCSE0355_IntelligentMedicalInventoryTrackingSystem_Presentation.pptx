
<file path=[Content_Types].xml><?xml version="1.0" encoding="utf-8"?>
<Types xmlns="http://schemas.openxmlformats.org/package/2006/content-types"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Relationship Id="rId3" Type="http://schemas.openxmlformats.org/officeDocument/2006/relationships/image" Target="../media/merged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.png"/><Relationship Id="rId3" Type="http://schemas.openxmlformats.org/officeDocument/2006/relationships/image" Target="../media/merged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6.png"/><Relationship Id="rId3" Type="http://schemas.openxmlformats.org/officeDocument/2006/relationships/image" Target="../media/merged7.png"/><Relationship Id="rId4" Type="http://schemas.openxmlformats.org/officeDocument/2006/relationships/image" Target="../media/merged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1D2E068-825C-47F5-9ABD-F9E5893692C2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FE47FE2-6B37-4FCF-A673-41BB2DD4F9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63100" y="142875"/>
            <a:ext cx="2628900" cy="1019175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74E52640-3C7B-4C7C-97C8-598C396199FC}"/>
              </a:ext>
            </a:extLst>
          </p:cNvPr>
          <p:cNvSpPr txBox="1"/>
          <p:nvPr/>
        </p:nvSpPr>
        <p:spPr>
          <a:xfrm>
            <a:off x="1428750" y="247650"/>
            <a:ext cx="6858000" cy="571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1F487C"/>
                </a:solidFill>
                <a:latin typeface="Times New Roman"/>
                <a:ea typeface="Times New Roman"/>
              </a:rPr>
              <a:t>PBL PROJECT  II YEAR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1F1CFA3-6D24-4A2F-AB6E-7B056E7383DA}"/>
              </a:ext>
            </a:extLst>
          </p:cNvPr>
          <p:cNvSpPr txBox="1"/>
          <p:nvPr/>
        </p:nvSpPr>
        <p:spPr>
          <a:xfrm>
            <a:off x="381000" y="1028700"/>
            <a:ext cx="7429500" cy="9906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</a:rPr>
              <a:t>Intelligent Medical Inventory Tracking System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4A2CD71-843E-4918-87B0-90A3DE9B2F87}"/>
              </a:ext>
            </a:extLst>
          </p:cNvPr>
          <p:cNvSpPr txBox="1"/>
          <p:nvPr/>
        </p:nvSpPr>
        <p:spPr>
          <a:xfrm>
            <a:off x="428625" y="2305050"/>
            <a:ext cx="6858000" cy="3048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</a:rPr>
              <a:t>Project ID –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Group 24 / CCSE0355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</a:rPr>
              <a:t>Problem Statement –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Intelligent Medical Inventory Tracking System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</a:rPr>
              <a:t>PS Category –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Software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</a:rPr>
              <a:t>Team Members –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Devvrat Tripathi, Manas Srivastava, Pranjal Sharma, Hardik Kumar, Mritunjay Gupta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</a:rPr>
              <a:t>Roll Nos –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0251CSAI231, 0251CSAI144, 0251CSAI141, 0251CSAI195, 0251CSAI132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</a:rPr>
              <a:t>Guide Name –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Ms Shweta Singh &amp; Ms Barkha Bhardwaj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6B4A5A7-F6D9-4028-8EF7-BB727E8CE099}"/>
              </a:ext>
            </a:extLst>
          </p:cNvPr>
          <p:cNvSpPr/>
          <p:nvPr/>
        </p:nvSpPr>
        <p:spPr>
          <a:xfrm>
            <a:off x="7858125" y="2571750"/>
            <a:ext cx="4095750" cy="2952750"/>
          </a:xfrm>
          <a:prstGeom prst="roundRect">
            <a:avLst/>
          </a:prstGeom>
          <a:solidFill>
            <a:srgbClr val="1F293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8A7CBACE-5D8C-4B6D-9B01-B975433CC08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01000" y="2714625"/>
            <a:ext cx="3810000" cy="22479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DF975082-E0CD-4A79-81AF-0A2E2F3F4B41}"/>
              </a:ext>
            </a:extLst>
          </p:cNvPr>
          <p:cNvSpPr txBox="1"/>
          <p:nvPr/>
        </p:nvSpPr>
        <p:spPr>
          <a:xfrm>
            <a:off x="8001000" y="5076825"/>
            <a:ext cx="3810000" cy="285750"/>
          </a:xfrm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Arial"/>
                <a:ea typeface="Arial"/>
              </a:rPr>
              <a:t>Live Swing dashboard · 500 medicines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1135463-8B51-4F83-8107-6B8D8627FF24}"/>
              </a:ext>
            </a:extLst>
          </p:cNvPr>
          <p:cNvSpPr txBox="1"/>
          <p:nvPr/>
        </p:nvSpPr>
        <p:spPr>
          <a:xfrm>
            <a:off x="428625" y="5619750"/>
            <a:ext cx="6858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5F6B7A"/>
                </a:solidFill>
                <a:latin typeface="Arial"/>
                <a:ea typeface="Arial"/>
              </a:rPr>
              <a:t>CCSE0355 · Semester III · Group 24 · SDG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F0C2D95D-75DD-40F6-B80C-E668054AF6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77375" y="47625"/>
            <a:ext cx="2628900" cy="1019175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3D6033C3-0F5A-459A-BB41-3C735B34C9BA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BB8DBE0-51F0-4679-87F7-8168EF9582F6}"/>
              </a:ext>
            </a:extLst>
          </p:cNvPr>
          <p:cNvSpPr/>
          <p:nvPr/>
        </p:nvSpPr>
        <p:spPr>
          <a:xfrm>
            <a:off x="333375" y="257175"/>
            <a:ext cx="1257300" cy="8001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</a:rPr>
              <a:t>GROUP 24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FF0F045-99CE-4648-BF8A-EE3BA6012E66}"/>
              </a:ext>
            </a:extLst>
          </p:cNvPr>
          <p:cNvSpPr txBox="1"/>
          <p:nvPr/>
        </p:nvSpPr>
        <p:spPr>
          <a:xfrm>
            <a:off x="1809750" y="152400"/>
            <a:ext cx="7524750" cy="5905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Intelligent Medical Inventory Tracking System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2E290BC-E10C-4862-BF31-B523665D1C98}"/>
              </a:ext>
            </a:extLst>
          </p:cNvPr>
          <p:cNvSpPr/>
          <p:nvPr/>
        </p:nvSpPr>
        <p:spPr>
          <a:xfrm>
            <a:off x="0" y="6353175"/>
            <a:ext cx="12192000" cy="504825"/>
          </a:xfrm>
          <a:prstGeom prst="rect">
            <a:avLst/>
          </a:prstGeom>
          <a:solidFill>
            <a:srgbClr val="006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3C21220-99F5-4E09-95D2-3796C1051AC7}"/>
              </a:ext>
            </a:extLst>
          </p:cNvPr>
          <p:cNvSpPr txBox="1"/>
          <p:nvPr/>
        </p:nvSpPr>
        <p:spPr>
          <a:xfrm>
            <a:off x="11334750" y="6486525"/>
            <a:ext cx="476250" cy="209550"/>
          </a:xfrm>
        </p:spPr>
        <p:txBody>
          <a:bodyPr wrap="square" rtlCol="0" lIns="0" tIns="0" rIns="0" bIns="0" anchor="ctr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4948162-4603-46F3-9845-05ACA79D046E}"/>
              </a:ext>
            </a:extLst>
          </p:cNvPr>
          <p:cNvSpPr txBox="1"/>
          <p:nvPr/>
        </p:nvSpPr>
        <p:spPr>
          <a:xfrm>
            <a:off x="476250" y="1028700"/>
            <a:ext cx="72390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F487C"/>
                </a:solidFill>
                <a:latin typeface="Arial"/>
                <a:ea typeface="Arial"/>
              </a:rPr>
              <a:t>Proposed Solution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3D470F4-21A9-4205-A3D5-933BDC0309DF}"/>
              </a:ext>
            </a:extLst>
          </p:cNvPr>
          <p:cNvSpPr/>
          <p:nvPr/>
        </p:nvSpPr>
        <p:spPr>
          <a:xfrm>
            <a:off x="476250" y="1543050"/>
            <a:ext cx="7239000" cy="19050"/>
          </a:xfrm>
          <a:prstGeom prst="rect">
            <a:avLst/>
          </a:prstGeom>
          <a:solidFill>
            <a:srgbClr val="1F487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198337D-8256-407A-BB74-52CDB7B3051B}"/>
              </a:ext>
            </a:extLst>
          </p:cNvPr>
          <p:cNvSpPr txBox="1"/>
          <p:nvPr/>
        </p:nvSpPr>
        <p:spPr>
          <a:xfrm>
            <a:off x="476250" y="1638300"/>
            <a:ext cx="7239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>
                <a:solidFill>
                  <a:srgbClr val="111111"/>
                </a:solidFill>
                <a:latin typeface="Arial"/>
                <a:ea typeface="Arial"/>
              </a:rPr>
              <a:t>A JDK-only desktop application that turns manual medicine registers into a live, alert-driven inventory.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234933D-7F81-4E2A-B076-FAF5C85C75F8}"/>
              </a:ext>
            </a:extLst>
          </p:cNvPr>
          <p:cNvSpPr/>
          <p:nvPr/>
        </p:nvSpPr>
        <p:spPr>
          <a:xfrm>
            <a:off x="476250" y="2286000"/>
            <a:ext cx="381000" cy="381000"/>
          </a:xfrm>
          <a:prstGeom prst="ellipse">
            <a:avLst/>
          </a:prstGeom>
          <a:solidFill>
            <a:srgbClr val="1F487C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1521C51-24FA-47A8-A46B-C7C706623323}"/>
              </a:ext>
            </a:extLst>
          </p:cNvPr>
          <p:cNvSpPr txBox="1"/>
          <p:nvPr/>
        </p:nvSpPr>
        <p:spPr>
          <a:xfrm>
            <a:off x="1009650" y="2228850"/>
            <a:ext cx="63817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</a:rPr>
              <a:t>One catalog, every medicine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6912F57-1264-4857-B988-B88DD046EA91}"/>
              </a:ext>
            </a:extLst>
          </p:cNvPr>
          <p:cNvSpPr txBox="1"/>
          <p:nvPr/>
        </p:nvSpPr>
        <p:spPr>
          <a:xfrm>
            <a:off x="1009650" y="2533650"/>
            <a:ext cx="64770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500 CSV-backed records hold quantity, price, expiry, reorder level and supplier details in one place.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985DECC-E20F-4CF7-A507-5F30F27359DC}"/>
              </a:ext>
            </a:extLst>
          </p:cNvPr>
          <p:cNvSpPr/>
          <p:nvPr/>
        </p:nvSpPr>
        <p:spPr>
          <a:xfrm>
            <a:off x="476250" y="3181350"/>
            <a:ext cx="381000" cy="381000"/>
          </a:xfrm>
          <a:prstGeom prst="ellipse">
            <a:avLst/>
          </a:prstGeom>
          <a:solidFill>
            <a:srgbClr val="1F487C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8F97564-4543-4FDD-B2D1-E627F0814C52}"/>
              </a:ext>
            </a:extLst>
          </p:cNvPr>
          <p:cNvSpPr txBox="1"/>
          <p:nvPr/>
        </p:nvSpPr>
        <p:spPr>
          <a:xfrm>
            <a:off x="1009650" y="3124200"/>
            <a:ext cx="63817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</a:rPr>
              <a:t>Live stock control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BDBCBBB-D382-49CA-A76F-7684F51A0E11}"/>
              </a:ext>
            </a:extLst>
          </p:cNvPr>
          <p:cNvSpPr txBox="1"/>
          <p:nvPr/>
        </p:nvSpPr>
        <p:spPr>
          <a:xfrm>
            <a:off x="1009650" y="3429000"/>
            <a:ext cx="64770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Dashboard cards, low-stock and expiry alerts, plus sales that stop when stock is expired or too low.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7A36355-C0A3-4E64-AB56-E23ACA2EF6D3}"/>
              </a:ext>
            </a:extLst>
          </p:cNvPr>
          <p:cNvSpPr/>
          <p:nvPr/>
        </p:nvSpPr>
        <p:spPr>
          <a:xfrm>
            <a:off x="476250" y="4076700"/>
            <a:ext cx="381000" cy="381000"/>
          </a:xfrm>
          <a:prstGeom prst="ellipse">
            <a:avLst/>
          </a:prstGeom>
          <a:solidFill>
            <a:srgbClr val="1F487C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D098577-61B7-4763-A7C7-270859C188C3}"/>
              </a:ext>
            </a:extLst>
          </p:cNvPr>
          <p:cNvSpPr txBox="1"/>
          <p:nvPr/>
        </p:nvSpPr>
        <p:spPr>
          <a:xfrm>
            <a:off x="1009650" y="4019550"/>
            <a:ext cx="63817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</a:rPr>
              <a:t>More than one screen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E614899-E2D9-430A-A94A-FA902F24264B}"/>
              </a:ext>
            </a:extLst>
          </p:cNvPr>
          <p:cNvSpPr txBox="1"/>
          <p:nvPr/>
        </p:nvSpPr>
        <p:spPr>
          <a:xfrm>
            <a:off x="1009650" y="4324350"/>
            <a:ext cx="64770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The Swing GUI, console mode and TCP counter client all reuse the same Java business rules.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381C1D41-5524-4163-834E-D5CB2EBD4F02}"/>
              </a:ext>
            </a:extLst>
          </p:cNvPr>
          <p:cNvSpPr/>
          <p:nvPr/>
        </p:nvSpPr>
        <p:spPr>
          <a:xfrm>
            <a:off x="476250" y="5219700"/>
            <a:ext cx="7239000" cy="4762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Same rules, three interfaces: GUI  ·  console  ·  TCP counter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73C54A2-27BF-49DD-A866-F6C160673557}"/>
              </a:ext>
            </a:extLst>
          </p:cNvPr>
          <p:cNvSpPr txBox="1"/>
          <p:nvPr/>
        </p:nvSpPr>
        <p:spPr>
          <a:xfrm>
            <a:off x="7905750" y="1028700"/>
            <a:ext cx="38100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F487C"/>
                </a:solidFill>
                <a:latin typeface="Arial"/>
                <a:ea typeface="Arial"/>
              </a:rPr>
              <a:t>How the system works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36657EEF-8E6E-479F-95D0-4E5471E6F1DA}"/>
              </a:ext>
            </a:extLst>
          </p:cNvPr>
          <p:cNvSpPr/>
          <p:nvPr/>
        </p:nvSpPr>
        <p:spPr>
          <a:xfrm>
            <a:off x="8001000" y="1485900"/>
            <a:ext cx="3619500" cy="8572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4264BA4-17CD-4E3C-BE7C-C15462044AA8}"/>
              </a:ext>
            </a:extLst>
          </p:cNvPr>
          <p:cNvSpPr txBox="1"/>
          <p:nvPr/>
        </p:nvSpPr>
        <p:spPr>
          <a:xfrm>
            <a:off x="8172450" y="1581150"/>
            <a:ext cx="3276600" cy="2438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487C"/>
                </a:solidFill>
                <a:latin typeface="Arial"/>
                <a:ea typeface="Arial"/>
              </a:rPr>
              <a:t>Track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270098F-BA4B-4B1A-9C01-9052C1F7C0F9}"/>
              </a:ext>
            </a:extLst>
          </p:cNvPr>
          <p:cNvSpPr txBox="1"/>
          <p:nvPr/>
        </p:nvSpPr>
        <p:spPr>
          <a:xfrm>
            <a:off x="8172450" y="1847850"/>
            <a:ext cx="32766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Quantity, expiry and reorder level in one CSV catalog.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2736F177-EF02-483A-952A-36F091AD897F}"/>
              </a:ext>
            </a:extLst>
          </p:cNvPr>
          <p:cNvSpPr/>
          <p:nvPr/>
        </p:nvSpPr>
        <p:spPr>
          <a:xfrm>
            <a:off x="9667875" y="2409825"/>
            <a:ext cx="285750" cy="247650"/>
          </a:xfrm>
          <a:prstGeom prst="downArrow">
            <a:avLst/>
          </a:prstGeom>
          <a:solidFill>
            <a:srgbClr val="1F487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21DBF26B-46A0-4BF9-85B9-6B547335A0DB}"/>
              </a:ext>
            </a:extLst>
          </p:cNvPr>
          <p:cNvSpPr/>
          <p:nvPr/>
        </p:nvSpPr>
        <p:spPr>
          <a:xfrm>
            <a:off x="8001000" y="2724150"/>
            <a:ext cx="3619500" cy="8572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9BD3612-1D57-4192-9838-229FF834CBB8}"/>
              </a:ext>
            </a:extLst>
          </p:cNvPr>
          <p:cNvSpPr txBox="1"/>
          <p:nvPr/>
        </p:nvSpPr>
        <p:spPr>
          <a:xfrm>
            <a:off x="8172450" y="2819400"/>
            <a:ext cx="3276600" cy="2438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487C"/>
                </a:solidFill>
                <a:latin typeface="Arial"/>
                <a:ea typeface="Arial"/>
              </a:rPr>
              <a:t>Alert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F9912D4-5725-48E2-9392-0320B0F6A5F3}"/>
              </a:ext>
            </a:extLst>
          </p:cNvPr>
          <p:cNvSpPr txBox="1"/>
          <p:nvPr/>
        </p:nvSpPr>
        <p:spPr>
          <a:xfrm>
            <a:off x="8172450" y="3086100"/>
            <a:ext cx="32766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Low stock and near-expiry flags refresh every five seconds.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92EFE159-D171-429E-9AA4-4C676324E659}"/>
              </a:ext>
            </a:extLst>
          </p:cNvPr>
          <p:cNvSpPr/>
          <p:nvPr/>
        </p:nvSpPr>
        <p:spPr>
          <a:xfrm>
            <a:off x="9667875" y="3648075"/>
            <a:ext cx="285750" cy="247650"/>
          </a:xfrm>
          <a:prstGeom prst="downArrow">
            <a:avLst/>
          </a:prstGeom>
          <a:solidFill>
            <a:srgbClr val="1F487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968F8809-A82A-4DCB-ABB0-CA86A3AD7174}"/>
              </a:ext>
            </a:extLst>
          </p:cNvPr>
          <p:cNvSpPr/>
          <p:nvPr/>
        </p:nvSpPr>
        <p:spPr>
          <a:xfrm>
            <a:off x="8001000" y="3962400"/>
            <a:ext cx="3619500" cy="8572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2B8BFA0-F2F7-423F-805B-7D40E4DFDFEB}"/>
              </a:ext>
            </a:extLst>
          </p:cNvPr>
          <p:cNvSpPr txBox="1"/>
          <p:nvPr/>
        </p:nvSpPr>
        <p:spPr>
          <a:xfrm>
            <a:off x="8172450" y="4057650"/>
            <a:ext cx="3276600" cy="2438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487C"/>
                </a:solidFill>
                <a:latin typeface="Arial"/>
                <a:ea typeface="Arial"/>
              </a:rPr>
              <a:t>Act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7E76260-74EE-414B-9B98-3D8BF966DAEA}"/>
              </a:ext>
            </a:extLst>
          </p:cNvPr>
          <p:cNvSpPr txBox="1"/>
          <p:nvPr/>
        </p:nvSpPr>
        <p:spPr>
          <a:xfrm>
            <a:off x="8172450" y="4324350"/>
            <a:ext cx="32766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Block unsafe sales, reorder stock and export ready reports.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8863C4C-EFD5-408D-B56B-44C6CC31522F}"/>
              </a:ext>
            </a:extLst>
          </p:cNvPr>
          <p:cNvSpPr txBox="1"/>
          <p:nvPr/>
        </p:nvSpPr>
        <p:spPr>
          <a:xfrm>
            <a:off x="7905750" y="5219700"/>
            <a:ext cx="38100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444444"/>
                </a:solidFill>
                <a:latin typeface="Arial"/>
                <a:ea typeface="Arial"/>
              </a:rPr>
              <a:t>A daemon monitor checks stock every 5 seconds; unsafe sales are rejected before the CSV is written.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F50C3481-CB89-40FA-A57F-8B981223C4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77375" y="47625"/>
            <a:ext cx="2628900" cy="1019175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32562367-46DB-470E-9B88-0F4CB084BAF1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F25ABD5-4D13-4F38-B60F-6A194FE085DF}"/>
              </a:ext>
            </a:extLst>
          </p:cNvPr>
          <p:cNvSpPr/>
          <p:nvPr/>
        </p:nvSpPr>
        <p:spPr>
          <a:xfrm>
            <a:off x="333375" y="257175"/>
            <a:ext cx="1257300" cy="8001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</a:rPr>
              <a:t>GROUP 24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CD5F2C1-F738-455F-8DF4-5418F2D16677}"/>
              </a:ext>
            </a:extLst>
          </p:cNvPr>
          <p:cNvSpPr txBox="1"/>
          <p:nvPr/>
        </p:nvSpPr>
        <p:spPr>
          <a:xfrm>
            <a:off x="1809750" y="152400"/>
            <a:ext cx="7524750" cy="5905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Times New Roman"/>
              </a:rPr>
              <a:t>TECHNICAL APPROACH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AFA8E72-8807-44D1-8D09-EF5170702773}"/>
              </a:ext>
            </a:extLst>
          </p:cNvPr>
          <p:cNvSpPr/>
          <p:nvPr/>
        </p:nvSpPr>
        <p:spPr>
          <a:xfrm>
            <a:off x="0" y="6353175"/>
            <a:ext cx="12192000" cy="504825"/>
          </a:xfrm>
          <a:prstGeom prst="rect">
            <a:avLst/>
          </a:prstGeom>
          <a:solidFill>
            <a:srgbClr val="006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5AF1271-B108-4CD5-8A08-756DAB0BC5D4}"/>
              </a:ext>
            </a:extLst>
          </p:cNvPr>
          <p:cNvSpPr txBox="1"/>
          <p:nvPr/>
        </p:nvSpPr>
        <p:spPr>
          <a:xfrm>
            <a:off x="11334750" y="6486525"/>
            <a:ext cx="476250" cy="209550"/>
          </a:xfrm>
        </p:spPr>
        <p:txBody>
          <a:bodyPr wrap="square" rtlCol="0" lIns="0" tIns="0" rIns="0" bIns="0" anchor="ctr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BD6FF56-4F13-4B92-A147-1308121C243B}"/>
              </a:ext>
            </a:extLst>
          </p:cNvPr>
          <p:cNvSpPr txBox="1"/>
          <p:nvPr/>
        </p:nvSpPr>
        <p:spPr>
          <a:xfrm>
            <a:off x="476250" y="1123950"/>
            <a:ext cx="34290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487C"/>
                </a:solidFill>
                <a:latin typeface="Arial"/>
                <a:ea typeface="Arial"/>
              </a:rPr>
              <a:t>Core Java stack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2D82D55-7B8F-4875-BF7C-21C6FDCFA21F}"/>
              </a:ext>
            </a:extLst>
          </p:cNvPr>
          <p:cNvSpPr txBox="1"/>
          <p:nvPr/>
        </p:nvSpPr>
        <p:spPr>
          <a:xfrm>
            <a:off x="476250" y="1504950"/>
            <a:ext cx="34290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Every unit of CCSE0355 is used in the running application.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DFAB5E8-08E6-4F90-83FF-15305D482F04}"/>
              </a:ext>
            </a:extLst>
          </p:cNvPr>
          <p:cNvSpPr txBox="1"/>
          <p:nvPr/>
        </p:nvSpPr>
        <p:spPr>
          <a:xfrm>
            <a:off x="476250" y="2133600"/>
            <a:ext cx="3429000" cy="23622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05000"/>
              </a:lnSpc>
              <a:spcAft>
                <a:spcPts val="1000"/>
              </a:spcAft>
              <a:buChar char="•"/>
            </a:pP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Java 8+ / standard JDK only</a:t>
            </a:r>
          </a:p>
          <a:p>
            <a:pPr marL="228600" indent="-228600" algn="l">
              <a:lnSpc>
                <a:spcPct val="105000"/>
              </a:lnSpc>
              <a:spcAft>
                <a:spcPts val="1000"/>
              </a:spcAft>
              <a:buChar char="•"/>
            </a:pP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Swing desktop GUI</a:t>
            </a:r>
          </a:p>
          <a:p>
            <a:pPr marL="228600" indent="-228600" algn="l">
              <a:lnSpc>
                <a:spcPct val="105000"/>
              </a:lnSpc>
              <a:spcAft>
                <a:spcPts val="1000"/>
              </a:spcAft>
              <a:buChar char="•"/>
            </a:pP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OOP, inheritance and interfaces</a:t>
            </a:r>
          </a:p>
          <a:p>
            <a:pPr marL="228600" indent="-228600" algn="l">
              <a:lnSpc>
                <a:spcPct val="105000"/>
              </a:lnSpc>
              <a:spcAft>
                <a:spcPts val="1000"/>
              </a:spcAft>
              <a:buChar char="•"/>
            </a:pP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Generics and collections</a:t>
            </a:r>
          </a:p>
          <a:p>
            <a:pPr marL="228600" indent="-228600" algn="l">
              <a:lnSpc>
                <a:spcPct val="105000"/>
              </a:lnSpc>
              <a:spcAft>
                <a:spcPts val="1000"/>
              </a:spcAft>
              <a:buChar char="•"/>
            </a:pP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CSV storage and strict validation</a:t>
            </a:r>
          </a:p>
          <a:p>
            <a:pPr marL="228600" indent="-228600" algn="l">
              <a:lnSpc>
                <a:spcPct val="105000"/>
              </a:lnSpc>
              <a:spcAft>
                <a:spcPts val="0"/>
              </a:spcAft>
              <a:buChar char="•"/>
            </a:pPr>
            <a:r>
              <a:rPr sz="1500">
                <a:solidFill>
                  <a:srgbClr val="111111"/>
                </a:solidFill>
                <a:latin typeface="Arial"/>
                <a:ea typeface="Arial"/>
              </a:rPr>
              <a:t>Threads, streams and TCP sockets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BEFC9F4-A2B5-4AB0-8871-B22006CDAD3F}"/>
              </a:ext>
            </a:extLst>
          </p:cNvPr>
          <p:cNvSpPr txBox="1"/>
          <p:nvPr/>
        </p:nvSpPr>
        <p:spPr>
          <a:xfrm>
            <a:off x="476250" y="4686300"/>
            <a:ext cx="3429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43438"/>
                </a:solidFill>
                <a:latin typeface="Arial"/>
                <a:ea typeface="Arial"/>
              </a:rPr>
              <a:t>No frameworks  ·  no database server  ·  no external libraries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B88D138-7420-4118-BB55-1D4EAF65059F}"/>
              </a:ext>
            </a:extLst>
          </p:cNvPr>
          <p:cNvSpPr txBox="1"/>
          <p:nvPr/>
        </p:nvSpPr>
        <p:spPr>
          <a:xfrm>
            <a:off x="4381500" y="1123950"/>
            <a:ext cx="7239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487C"/>
                </a:solidFill>
                <a:latin typeface="Arial"/>
                <a:ea typeface="Arial"/>
              </a:rPr>
              <a:t>Layered system architecture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B8499D16-3346-4F1D-B442-18300E23FD4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81500" y="1466850"/>
            <a:ext cx="7239000" cy="3048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AA43864A-97EF-402B-B795-81F6C77CB65B}"/>
              </a:ext>
            </a:extLst>
          </p:cNvPr>
          <p:cNvSpPr txBox="1"/>
          <p:nvPr/>
        </p:nvSpPr>
        <p:spPr>
          <a:xfrm>
            <a:off x="4381500" y="4629150"/>
            <a:ext cx="7239000" cy="41605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444444"/>
                </a:solidFill>
                <a:latin typeface="Arial"/>
                <a:ea typeface="Arial"/>
              </a:rPr>
              <a:t>The GUI, console and TCP counter share one inventory core, so business rules are written only once.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712E232-908B-474E-A56D-A0AEDC1C171A}"/>
              </a:ext>
            </a:extLst>
          </p:cNvPr>
          <p:cNvSpPr/>
          <p:nvPr/>
        </p:nvSpPr>
        <p:spPr>
          <a:xfrm>
            <a:off x="476250" y="5257800"/>
            <a:ext cx="2667000" cy="552450"/>
          </a:xfrm>
          <a:prstGeom prst="chevron">
            <a:avLst/>
          </a:prstGeom>
          <a:solidFill>
            <a:srgbClr val="1F487C"/>
          </a:solidFill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Model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88DFF77-A42E-4C12-9250-01CB99908DC3}"/>
              </a:ext>
            </a:extLst>
          </p:cNvPr>
          <p:cNvSpPr/>
          <p:nvPr/>
        </p:nvSpPr>
        <p:spPr>
          <a:xfrm>
            <a:off x="3333750" y="5257800"/>
            <a:ext cx="2667000" cy="552450"/>
          </a:xfrm>
          <a:prstGeom prst="chevron">
            <a:avLst/>
          </a:prstGeom>
          <a:solidFill>
            <a:srgbClr val="EAF1F8"/>
          </a:solidFill>
          <a:ln w="12700">
            <a:solidFill>
              <a:srgbClr val="C9D6E5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Business rules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05F0454-227D-4101-8476-55C850C6082E}"/>
              </a:ext>
            </a:extLst>
          </p:cNvPr>
          <p:cNvSpPr/>
          <p:nvPr/>
        </p:nvSpPr>
        <p:spPr>
          <a:xfrm>
            <a:off x="6191250" y="5257800"/>
            <a:ext cx="2667000" cy="552450"/>
          </a:xfrm>
          <a:prstGeom prst="chevron">
            <a:avLst/>
          </a:prstGeom>
          <a:solidFill>
            <a:srgbClr val="EAF1F8"/>
          </a:solidFill>
          <a:ln w="12700">
            <a:solidFill>
              <a:srgbClr val="C9D6E5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CSV + lock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EBC97C7C-30BB-48FC-B5FC-B76DC5A98E3F}"/>
              </a:ext>
            </a:extLst>
          </p:cNvPr>
          <p:cNvSpPr/>
          <p:nvPr/>
        </p:nvSpPr>
        <p:spPr>
          <a:xfrm>
            <a:off x="9048750" y="5257800"/>
            <a:ext cx="2667000" cy="552450"/>
          </a:xfrm>
          <a:prstGeom prst="chevron">
            <a:avLst/>
          </a:prstGeom>
          <a:solidFill>
            <a:srgbClr val="EAF1F8"/>
          </a:solidFill>
          <a:ln w="12700">
            <a:solidFill>
              <a:srgbClr val="C9D6E5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GUI / console / TCP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B3F9A519-6A3C-46D7-9FD8-BE0B7B54AF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77375" y="47625"/>
            <a:ext cx="2628900" cy="1019175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921334E2-ADB7-4CB3-8B8D-F4D33903C167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B34AD47-28CE-4577-B930-97053CA423F5}"/>
              </a:ext>
            </a:extLst>
          </p:cNvPr>
          <p:cNvSpPr/>
          <p:nvPr/>
        </p:nvSpPr>
        <p:spPr>
          <a:xfrm>
            <a:off x="333375" y="257175"/>
            <a:ext cx="1257300" cy="8001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</a:rPr>
              <a:t>GROUP 24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CEA968-768B-4CF4-8212-A0F15C803697}"/>
              </a:ext>
            </a:extLst>
          </p:cNvPr>
          <p:cNvSpPr txBox="1"/>
          <p:nvPr/>
        </p:nvSpPr>
        <p:spPr>
          <a:xfrm>
            <a:off x="1809750" y="152400"/>
            <a:ext cx="7524750" cy="5905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Times New Roman"/>
              </a:rPr>
              <a:t>Implementation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A6126D8-E00A-4F7D-BDD1-75B27B92C631}"/>
              </a:ext>
            </a:extLst>
          </p:cNvPr>
          <p:cNvSpPr/>
          <p:nvPr/>
        </p:nvSpPr>
        <p:spPr>
          <a:xfrm>
            <a:off x="0" y="6353175"/>
            <a:ext cx="12192000" cy="504825"/>
          </a:xfrm>
          <a:prstGeom prst="rect">
            <a:avLst/>
          </a:prstGeom>
          <a:solidFill>
            <a:srgbClr val="006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DD6373A-DD65-4988-8AED-5B2D94831264}"/>
              </a:ext>
            </a:extLst>
          </p:cNvPr>
          <p:cNvSpPr txBox="1"/>
          <p:nvPr/>
        </p:nvSpPr>
        <p:spPr>
          <a:xfrm>
            <a:off x="11334750" y="6486525"/>
            <a:ext cx="476250" cy="209550"/>
          </a:xfrm>
        </p:spPr>
        <p:txBody>
          <a:bodyPr wrap="square" rtlCol="0" lIns="0" tIns="0" rIns="0" bIns="0" anchor="ctr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8ED7240-AB94-47B4-97B2-403A526DAA06}"/>
              </a:ext>
            </a:extLst>
          </p:cNvPr>
          <p:cNvSpPr txBox="1"/>
          <p:nvPr/>
        </p:nvSpPr>
        <p:spPr>
          <a:xfrm>
            <a:off x="476250" y="1162050"/>
            <a:ext cx="638175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487C"/>
                </a:solidFill>
                <a:latin typeface="Arial"/>
                <a:ea typeface="Arial"/>
              </a:rPr>
              <a:t>Dashboard: live stock view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9CB5582-65FA-40B6-ADAF-43A77D29C07C}"/>
              </a:ext>
            </a:extLst>
          </p:cNvPr>
          <p:cNvSpPr/>
          <p:nvPr/>
        </p:nvSpPr>
        <p:spPr>
          <a:xfrm>
            <a:off x="400050" y="1447800"/>
            <a:ext cx="6534150" cy="3924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5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93EA7440-791E-4D9C-ABFE-CE3D12FA55D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6250" y="1524000"/>
            <a:ext cx="6381750" cy="37719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0E4DC74F-567A-4B91-A069-AC6FD5BEC4F4}"/>
              </a:ext>
            </a:extLst>
          </p:cNvPr>
          <p:cNvSpPr txBox="1"/>
          <p:nvPr/>
        </p:nvSpPr>
        <p:spPr>
          <a:xfrm>
            <a:off x="476250" y="5467350"/>
            <a:ext cx="638175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>
                <a:solidFill>
                  <a:srgbClr val="444444"/>
                </a:solidFill>
                <a:latin typeface="Arial"/>
                <a:ea typeface="Arial"/>
              </a:rPr>
              <a:t>Summary cards, colour-coded stock table, expiry alerts and one-click stock actions.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8993A02-24C8-49D5-8C0E-F749D023F100}"/>
              </a:ext>
            </a:extLst>
          </p:cNvPr>
          <p:cNvSpPr txBox="1"/>
          <p:nvPr/>
        </p:nvSpPr>
        <p:spPr>
          <a:xfrm>
            <a:off x="7143750" y="1162050"/>
            <a:ext cx="45720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487C"/>
                </a:solidFill>
                <a:latin typeface="Arial"/>
                <a:ea typeface="Arial"/>
              </a:rPr>
              <a:t>Key modules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7806B6F-AC1B-4BB5-A89C-E31A67B68192}"/>
              </a:ext>
            </a:extLst>
          </p:cNvPr>
          <p:cNvSpPr/>
          <p:nvPr/>
        </p:nvSpPr>
        <p:spPr>
          <a:xfrm>
            <a:off x="7143750" y="1524000"/>
            <a:ext cx="220980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07FF8BD-A792-4B50-9948-6F002776F5B6}"/>
              </a:ext>
            </a:extLst>
          </p:cNvPr>
          <p:cNvSpPr txBox="1"/>
          <p:nvPr/>
        </p:nvSpPr>
        <p:spPr>
          <a:xfrm>
            <a:off x="7277100" y="1638300"/>
            <a:ext cx="19431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Medicine model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D114F54-E7C4-4227-A523-8E248DBB03B6}"/>
              </a:ext>
            </a:extLst>
          </p:cNvPr>
          <p:cNvSpPr txBox="1"/>
          <p:nvPr/>
        </p:nvSpPr>
        <p:spPr>
          <a:xfrm>
            <a:off x="7277100" y="1905000"/>
            <a:ext cx="19431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Arial"/>
                <a:ea typeface="Arial"/>
              </a:rPr>
              <a:t>Abstract Medicine base with Tablet, Syrup and Injection subclasses.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FFB0599-1367-423E-ADBD-10D301278074}"/>
              </a:ext>
            </a:extLst>
          </p:cNvPr>
          <p:cNvSpPr/>
          <p:nvPr/>
        </p:nvSpPr>
        <p:spPr>
          <a:xfrm>
            <a:off x="9505950" y="1524000"/>
            <a:ext cx="220980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55725BD-7F8B-472A-A2EF-65F14B3767E1}"/>
              </a:ext>
            </a:extLst>
          </p:cNvPr>
          <p:cNvSpPr txBox="1"/>
          <p:nvPr/>
        </p:nvSpPr>
        <p:spPr>
          <a:xfrm>
            <a:off x="9639300" y="1638300"/>
            <a:ext cx="19431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Inventory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16CAA2B-9169-4370-A4A4-EF95E8400C1D}"/>
              </a:ext>
            </a:extLst>
          </p:cNvPr>
          <p:cNvSpPr txBox="1"/>
          <p:nvPr/>
        </p:nvSpPr>
        <p:spPr>
          <a:xfrm>
            <a:off x="9639300" y="1905000"/>
            <a:ext cx="19431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Arial"/>
                <a:ea typeface="Arial"/>
              </a:rPr>
              <a:t>Search, add, update, delete and refresh the 500-record catalog.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69A2E99C-E7EB-472A-B750-AD96B3A9764B}"/>
              </a:ext>
            </a:extLst>
          </p:cNvPr>
          <p:cNvSpPr/>
          <p:nvPr/>
        </p:nvSpPr>
        <p:spPr>
          <a:xfrm>
            <a:off x="7143750" y="2800350"/>
            <a:ext cx="220980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CEBB252-9B83-4BCB-894E-8F8F0EF7108F}"/>
              </a:ext>
            </a:extLst>
          </p:cNvPr>
          <p:cNvSpPr txBox="1"/>
          <p:nvPr/>
        </p:nvSpPr>
        <p:spPr>
          <a:xfrm>
            <a:off x="7277100" y="2914650"/>
            <a:ext cx="19431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Expiry monitor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F9DDA6A-904C-4E1D-9DC7-FC6D67F2F99F}"/>
              </a:ext>
            </a:extLst>
          </p:cNvPr>
          <p:cNvSpPr txBox="1"/>
          <p:nvPr/>
        </p:nvSpPr>
        <p:spPr>
          <a:xfrm>
            <a:off x="7277100" y="3181350"/>
            <a:ext cx="19431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Arial"/>
                <a:ea typeface="Arial"/>
              </a:rPr>
              <a:t>Daemon thread recalculates low-stock and expiry states every 5 seconds.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914D76A9-4877-4089-B363-57738382F903}"/>
              </a:ext>
            </a:extLst>
          </p:cNvPr>
          <p:cNvSpPr/>
          <p:nvPr/>
        </p:nvSpPr>
        <p:spPr>
          <a:xfrm>
            <a:off x="9505950" y="2800350"/>
            <a:ext cx="220980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CF05638-4735-49B8-946C-5DFF1CDFF9BD}"/>
              </a:ext>
            </a:extLst>
          </p:cNvPr>
          <p:cNvSpPr txBox="1"/>
          <p:nvPr/>
        </p:nvSpPr>
        <p:spPr>
          <a:xfrm>
            <a:off x="9639300" y="2914650"/>
            <a:ext cx="19431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CSV storage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47A7F79-08F2-4830-9348-7579AE67FAA2}"/>
              </a:ext>
            </a:extLst>
          </p:cNvPr>
          <p:cNvSpPr txBox="1"/>
          <p:nvPr/>
        </p:nvSpPr>
        <p:spPr>
          <a:xfrm>
            <a:off x="9639300" y="3181350"/>
            <a:ext cx="19431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Arial"/>
                <a:ea typeface="Arial"/>
              </a:rPr>
              <a:t>Strict load, atomic save and a lock file for shared access.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2B6D1B1E-523A-4F0D-8F73-DD280D60BA86}"/>
              </a:ext>
            </a:extLst>
          </p:cNvPr>
          <p:cNvSpPr/>
          <p:nvPr/>
        </p:nvSpPr>
        <p:spPr>
          <a:xfrm>
            <a:off x="7143750" y="4076700"/>
            <a:ext cx="220980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AC03B79-B5F4-4045-87BD-DEDCEE0CB9BB}"/>
              </a:ext>
            </a:extLst>
          </p:cNvPr>
          <p:cNvSpPr txBox="1"/>
          <p:nvPr/>
        </p:nvSpPr>
        <p:spPr>
          <a:xfrm>
            <a:off x="7277100" y="4191000"/>
            <a:ext cx="19431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TCP sales server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C307783-9CF6-465A-BCF8-2E4AAFE03F8A}"/>
              </a:ext>
            </a:extLst>
          </p:cNvPr>
          <p:cNvSpPr txBox="1"/>
          <p:nvPr/>
        </p:nvSpPr>
        <p:spPr>
          <a:xfrm>
            <a:off x="7277100" y="4457700"/>
            <a:ext cx="19431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Arial"/>
                <a:ea typeface="Arial"/>
              </a:rPr>
              <a:t>SELL &lt;id&gt; &lt;qty&gt; keeps counter sales in sync with the main inventory.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300D7E70-684C-40D2-82D5-6EA7BEF200DE}"/>
              </a:ext>
            </a:extLst>
          </p:cNvPr>
          <p:cNvSpPr/>
          <p:nvPr/>
        </p:nvSpPr>
        <p:spPr>
          <a:xfrm>
            <a:off x="9505950" y="4076700"/>
            <a:ext cx="220980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2A184EA-B961-4D76-BEB6-3F6DDE286CDD}"/>
              </a:ext>
            </a:extLst>
          </p:cNvPr>
          <p:cNvSpPr txBox="1"/>
          <p:nvPr/>
        </p:nvSpPr>
        <p:spPr>
          <a:xfrm>
            <a:off x="9639300" y="4191000"/>
            <a:ext cx="19431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Reports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81D40C1-64CE-4B9E-A745-6CCB0E990C93}"/>
              </a:ext>
            </a:extLst>
          </p:cNvPr>
          <p:cNvSpPr txBox="1"/>
          <p:nvPr/>
        </p:nvSpPr>
        <p:spPr>
          <a:xfrm>
            <a:off x="9639300" y="4457700"/>
            <a:ext cx="19431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Arial"/>
                <a:ea typeface="Arial"/>
              </a:rPr>
              <a:t>Stock, expiry, reorder, sales and activity reports.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8AB815E-75C4-4B94-8942-E6354FBC3308}"/>
              </a:ext>
            </a:extLst>
          </p:cNvPr>
          <p:cNvSpPr txBox="1"/>
          <p:nvPr/>
        </p:nvSpPr>
        <p:spPr>
          <a:xfrm>
            <a:off x="7143750" y="546735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F487C"/>
                </a:solidFill>
                <a:latin typeface="Arial"/>
                <a:ea typeface="Arial"/>
              </a:rPr>
              <a:t>Three interfaces · one inventory 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28F6C1CA-83D0-43F0-9D14-C958F25BDB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77375" y="47625"/>
            <a:ext cx="2628900" cy="1019175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BDD8E17D-DA9B-48ED-A555-F7E32403724B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8E06EFB-13A6-4D29-B42E-93C72F3DEC56}"/>
              </a:ext>
            </a:extLst>
          </p:cNvPr>
          <p:cNvSpPr/>
          <p:nvPr/>
        </p:nvSpPr>
        <p:spPr>
          <a:xfrm>
            <a:off x="333375" y="257175"/>
            <a:ext cx="1257300" cy="8001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</a:rPr>
              <a:t>GROUP 24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B80E9E8-9E44-4E9D-A0B4-E7C374FEA18C}"/>
              </a:ext>
            </a:extLst>
          </p:cNvPr>
          <p:cNvSpPr txBox="1"/>
          <p:nvPr/>
        </p:nvSpPr>
        <p:spPr>
          <a:xfrm>
            <a:off x="1809750" y="152400"/>
            <a:ext cx="7524750" cy="5905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Times New Roman"/>
              </a:rPr>
              <a:t>Results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43E7E75-190E-498F-8386-94A7C92E28B4}"/>
              </a:ext>
            </a:extLst>
          </p:cNvPr>
          <p:cNvSpPr/>
          <p:nvPr/>
        </p:nvSpPr>
        <p:spPr>
          <a:xfrm>
            <a:off x="0" y="6353175"/>
            <a:ext cx="12192000" cy="504825"/>
          </a:xfrm>
          <a:prstGeom prst="rect">
            <a:avLst/>
          </a:prstGeom>
          <a:solidFill>
            <a:srgbClr val="006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2B7B66E-387D-4035-9A3A-00EE2A284921}"/>
              </a:ext>
            </a:extLst>
          </p:cNvPr>
          <p:cNvSpPr txBox="1"/>
          <p:nvPr/>
        </p:nvSpPr>
        <p:spPr>
          <a:xfrm>
            <a:off x="11334750" y="6486525"/>
            <a:ext cx="476250" cy="209550"/>
          </a:xfrm>
        </p:spPr>
        <p:txBody>
          <a:bodyPr wrap="square" rtlCol="0" lIns="0" tIns="0" rIns="0" bIns="0" anchor="ctr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BECC031-099B-453F-AF68-F42231544917}"/>
              </a:ext>
            </a:extLst>
          </p:cNvPr>
          <p:cNvSpPr/>
          <p:nvPr/>
        </p:nvSpPr>
        <p:spPr>
          <a:xfrm>
            <a:off x="476250" y="1162050"/>
            <a:ext cx="2667000" cy="952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ABC89E3-78D8-4207-8401-194515A7AD10}"/>
              </a:ext>
            </a:extLst>
          </p:cNvPr>
          <p:cNvSpPr txBox="1"/>
          <p:nvPr/>
        </p:nvSpPr>
        <p:spPr>
          <a:xfrm>
            <a:off x="628650" y="1257300"/>
            <a:ext cx="2362200" cy="518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F487C"/>
                </a:solidFill>
                <a:latin typeface="Arial"/>
                <a:ea typeface="Arial"/>
              </a:rPr>
              <a:t>500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BEAB101-5310-4444-B941-786229C06786}"/>
              </a:ext>
            </a:extLst>
          </p:cNvPr>
          <p:cNvSpPr txBox="1"/>
          <p:nvPr/>
        </p:nvSpPr>
        <p:spPr>
          <a:xfrm>
            <a:off x="628650" y="1809750"/>
            <a:ext cx="2362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333333"/>
                </a:solidFill>
                <a:latin typeface="Arial"/>
                <a:ea typeface="Arial"/>
              </a:rPr>
              <a:t>medicine records loaded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BC7FA08-ECDC-413A-8AF3-55407F0DCBCD}"/>
              </a:ext>
            </a:extLst>
          </p:cNvPr>
          <p:cNvSpPr/>
          <p:nvPr/>
        </p:nvSpPr>
        <p:spPr>
          <a:xfrm>
            <a:off x="3333750" y="1162050"/>
            <a:ext cx="2667000" cy="952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519A1B8-69EE-44DB-BC69-78C041054666}"/>
              </a:ext>
            </a:extLst>
          </p:cNvPr>
          <p:cNvSpPr txBox="1"/>
          <p:nvPr/>
        </p:nvSpPr>
        <p:spPr>
          <a:xfrm>
            <a:off x="3486150" y="1257300"/>
            <a:ext cx="2362200" cy="518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F487C"/>
                </a:solidFill>
                <a:latin typeface="Arial"/>
                <a:ea typeface="Arial"/>
              </a:rPr>
              <a:t>17 / 17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6BF3C1C-8890-4F6B-B2A3-215F16282A9E}"/>
              </a:ext>
            </a:extLst>
          </p:cNvPr>
          <p:cNvSpPr txBox="1"/>
          <p:nvPr/>
        </p:nvSpPr>
        <p:spPr>
          <a:xfrm>
            <a:off x="3486150" y="1809750"/>
            <a:ext cx="2362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333333"/>
                </a:solidFill>
                <a:latin typeface="Arial"/>
                <a:ea typeface="Arial"/>
              </a:rPr>
              <a:t>test cases passing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8F65244-0787-4131-9076-00C8E5CB3C95}"/>
              </a:ext>
            </a:extLst>
          </p:cNvPr>
          <p:cNvSpPr/>
          <p:nvPr/>
        </p:nvSpPr>
        <p:spPr>
          <a:xfrm>
            <a:off x="6191250" y="1162050"/>
            <a:ext cx="2667000" cy="952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94927E9-EF55-4A75-8020-D77D7C44C7DE}"/>
              </a:ext>
            </a:extLst>
          </p:cNvPr>
          <p:cNvSpPr txBox="1"/>
          <p:nvPr/>
        </p:nvSpPr>
        <p:spPr>
          <a:xfrm>
            <a:off x="6343650" y="1257300"/>
            <a:ext cx="2362200" cy="518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F487C"/>
                </a:solidFill>
                <a:latin typeface="Arial"/>
                <a:ea typeface="Arial"/>
              </a:rPr>
              <a:t>5 sec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E08D5A1-BCF9-4F62-A3BC-2197E5295C28}"/>
              </a:ext>
            </a:extLst>
          </p:cNvPr>
          <p:cNvSpPr txBox="1"/>
          <p:nvPr/>
        </p:nvSpPr>
        <p:spPr>
          <a:xfrm>
            <a:off x="6343650" y="1809750"/>
            <a:ext cx="2362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333333"/>
                </a:solidFill>
                <a:latin typeface="Arial"/>
                <a:ea typeface="Arial"/>
              </a:rPr>
              <a:t>expiry monitor refresh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3A3187A-96CF-4C71-9155-6E73E8BDDD6A}"/>
              </a:ext>
            </a:extLst>
          </p:cNvPr>
          <p:cNvSpPr/>
          <p:nvPr/>
        </p:nvSpPr>
        <p:spPr>
          <a:xfrm>
            <a:off x="9048750" y="1162050"/>
            <a:ext cx="2667000" cy="952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AFAB62C-E0DF-48AF-8C44-913D32A3FE5B}"/>
              </a:ext>
            </a:extLst>
          </p:cNvPr>
          <p:cNvSpPr txBox="1"/>
          <p:nvPr/>
        </p:nvSpPr>
        <p:spPr>
          <a:xfrm>
            <a:off x="9201150" y="1257300"/>
            <a:ext cx="2362200" cy="518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F487C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BC18DAC-4CCA-4BBE-9A45-052E3D82B2BB}"/>
              </a:ext>
            </a:extLst>
          </p:cNvPr>
          <p:cNvSpPr txBox="1"/>
          <p:nvPr/>
        </p:nvSpPr>
        <p:spPr>
          <a:xfrm>
            <a:off x="9201150" y="1809750"/>
            <a:ext cx="2362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333333"/>
                </a:solidFill>
                <a:latin typeface="Arial"/>
                <a:ea typeface="Arial"/>
              </a:rPr>
              <a:t>GUI, console and TCP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0D61968-1ABF-4B40-82A2-E44760374511}"/>
              </a:ext>
            </a:extLst>
          </p:cNvPr>
          <p:cNvSpPr txBox="1"/>
          <p:nvPr/>
        </p:nvSpPr>
        <p:spPr>
          <a:xfrm>
            <a:off x="476250" y="2286000"/>
            <a:ext cx="49530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Search by name or ID</a:t>
            </a:r>
          </a:p>
        </p:txBody>
      </p:sp>
      <p:pic>
        <p:nvPicPr>
          <p:cNvPr id="22" name="Picture 22">
            <a:extLst>
              <a:ext uri="{FF2B5EF4-FFF2-40B4-BE49-F238E27FC236}">
                <a16:creationId xmlns:a16="http://schemas.microsoft.com/office/drawing/2014/main" id="{6CF82E44-AD90-4F49-8B74-2D1CB4E09C4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6250" y="2571750"/>
            <a:ext cx="4953000" cy="24765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39766339-177B-4FB5-8BA9-A0C2BB6A0AF8}"/>
              </a:ext>
            </a:extLst>
          </p:cNvPr>
          <p:cNvSpPr txBox="1"/>
          <p:nvPr/>
        </p:nvSpPr>
        <p:spPr>
          <a:xfrm>
            <a:off x="476250" y="5143500"/>
            <a:ext cx="4953000" cy="3619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>
                <a:solidFill>
                  <a:srgbClr val="444444"/>
                </a:solidFill>
                <a:latin typeface="Arial"/>
                <a:ea typeface="Arial"/>
              </a:rPr>
              <a:t>Catalog test: 500 total · 100 low · 100 expiring · 50 expired.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7BF3C45-F691-4883-9E07-BB43474C1F12}"/>
              </a:ext>
            </a:extLst>
          </p:cNvPr>
          <p:cNvSpPr txBox="1"/>
          <p:nvPr/>
        </p:nvSpPr>
        <p:spPr>
          <a:xfrm>
            <a:off x="5905500" y="2286000"/>
            <a:ext cx="33337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Reports and analytics</a:t>
            </a:r>
          </a:p>
        </p:txBody>
      </p:sp>
      <p:pic>
        <p:nvPicPr>
          <p:cNvPr id="25" name="Picture 25">
            <a:extLst>
              <a:ext uri="{FF2B5EF4-FFF2-40B4-BE49-F238E27FC236}">
                <a16:creationId xmlns:a16="http://schemas.microsoft.com/office/drawing/2014/main" id="{B4320286-1CE9-4871-AA14-7E4C57A4478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905500" y="2571750"/>
            <a:ext cx="3333750" cy="24765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022D64A7-6C11-456A-B48B-2809EA0051DB}"/>
              </a:ext>
            </a:extLst>
          </p:cNvPr>
          <p:cNvSpPr txBox="1"/>
          <p:nvPr/>
        </p:nvSpPr>
        <p:spPr>
          <a:xfrm>
            <a:off x="9525000" y="2286000"/>
            <a:ext cx="21907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Verified behaviour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CA7C17A-E4BA-484C-B813-DB99345E3E78}"/>
              </a:ext>
            </a:extLst>
          </p:cNvPr>
          <p:cNvSpPr txBox="1"/>
          <p:nvPr/>
        </p:nvSpPr>
        <p:spPr>
          <a:xfrm>
            <a:off x="9525000" y="2609850"/>
            <a:ext cx="2190750" cy="2095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05000"/>
              </a:lnSpc>
              <a:spcAft>
                <a:spcPts val="800"/>
              </a:spcAft>
              <a:buChar char="•"/>
            </a:pP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Expired sale blocked</a:t>
            </a:r>
          </a:p>
          <a:p>
            <a:pPr marL="228600" indent="-228600" algn="l">
              <a:lnSpc>
                <a:spcPct val="105000"/>
              </a:lnSpc>
              <a:spcAft>
                <a:spcPts val="800"/>
              </a:spcAft>
              <a:buChar char="•"/>
            </a:pP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Over-stock sale rejected</a:t>
            </a:r>
          </a:p>
          <a:p>
            <a:pPr marL="228600" indent="-228600" algn="l">
              <a:lnSpc>
                <a:spcPct val="105000"/>
              </a:lnSpc>
              <a:spcAft>
                <a:spcPts val="800"/>
              </a:spcAft>
              <a:buChar char="•"/>
            </a:pP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CSV refreshed after each sale</a:t>
            </a:r>
          </a:p>
          <a:p>
            <a:pPr marL="228600" indent="-228600" algn="l">
              <a:lnSpc>
                <a:spcPct val="105000"/>
              </a:lnSpc>
              <a:spcAft>
                <a:spcPts val="0"/>
              </a:spcAft>
              <a:buChar char="•"/>
            </a:pP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Backup and restore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99362FA4-5695-4F57-B2C6-1194D117A1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77375" y="47625"/>
            <a:ext cx="2628900" cy="1019175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1DBC100F-10F3-4F94-B975-9A91BBA047D6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7316A47-3D8C-4C15-874D-2F5408401F66}"/>
              </a:ext>
            </a:extLst>
          </p:cNvPr>
          <p:cNvSpPr/>
          <p:nvPr/>
        </p:nvSpPr>
        <p:spPr>
          <a:xfrm>
            <a:off x="333375" y="257175"/>
            <a:ext cx="1257300" cy="8001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</a:rPr>
              <a:t>GROUP 24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C563AFF-2D98-42EF-8234-B9E035205C7E}"/>
              </a:ext>
            </a:extLst>
          </p:cNvPr>
          <p:cNvSpPr txBox="1"/>
          <p:nvPr/>
        </p:nvSpPr>
        <p:spPr>
          <a:xfrm>
            <a:off x="1809750" y="152400"/>
            <a:ext cx="7524750" cy="5905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Times New Roman"/>
              </a:rPr>
              <a:t>FEASIBILITY AND VIABILITY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E943257-09B6-4AB0-8AE2-B3CF22F16B4B}"/>
              </a:ext>
            </a:extLst>
          </p:cNvPr>
          <p:cNvSpPr/>
          <p:nvPr/>
        </p:nvSpPr>
        <p:spPr>
          <a:xfrm>
            <a:off x="0" y="6353175"/>
            <a:ext cx="12192000" cy="504825"/>
          </a:xfrm>
          <a:prstGeom prst="rect">
            <a:avLst/>
          </a:prstGeom>
          <a:solidFill>
            <a:srgbClr val="006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1CFB8E4-0616-4AD1-81ED-BC2900C4A262}"/>
              </a:ext>
            </a:extLst>
          </p:cNvPr>
          <p:cNvSpPr txBox="1"/>
          <p:nvPr/>
        </p:nvSpPr>
        <p:spPr>
          <a:xfrm>
            <a:off x="11334750" y="6486525"/>
            <a:ext cx="476250" cy="209550"/>
          </a:xfrm>
        </p:spPr>
        <p:txBody>
          <a:bodyPr wrap="square" rtlCol="0" lIns="0" tIns="0" rIns="0" bIns="0" anchor="ctr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2FE4939-182B-4592-876A-D4A084342E8D}"/>
              </a:ext>
            </a:extLst>
          </p:cNvPr>
          <p:cNvSpPr txBox="1"/>
          <p:nvPr/>
        </p:nvSpPr>
        <p:spPr>
          <a:xfrm>
            <a:off x="476250" y="1143000"/>
            <a:ext cx="110490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>
                <a:solidFill>
                  <a:srgbClr val="222222"/>
                </a:solidFill>
                <a:latin typeface="Arial"/>
                <a:ea typeface="Arial"/>
              </a:rPr>
              <a:t>The project is viable as an offline, JDK-only capstone and needs no new hardware.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EB197E9-AB8D-45C4-B807-287A9D691279}"/>
              </a:ext>
            </a:extLst>
          </p:cNvPr>
          <p:cNvSpPr/>
          <p:nvPr/>
        </p:nvSpPr>
        <p:spPr>
          <a:xfrm>
            <a:off x="476250" y="1600200"/>
            <a:ext cx="3619500" cy="23812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6F0FE86-103E-47A4-A461-9AC19D96BDB2}"/>
              </a:ext>
            </a:extLst>
          </p:cNvPr>
          <p:cNvSpPr txBox="1"/>
          <p:nvPr/>
        </p:nvSpPr>
        <p:spPr>
          <a:xfrm>
            <a:off x="704850" y="1790700"/>
            <a:ext cx="31623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487C"/>
                </a:solidFill>
                <a:latin typeface="Arial"/>
                <a:ea typeface="Arial"/>
              </a:rPr>
              <a:t>Technical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EFE3222-775C-47C4-B60A-DFBDA7D64CD6}"/>
              </a:ext>
            </a:extLst>
          </p:cNvPr>
          <p:cNvSpPr txBox="1"/>
          <p:nvPr/>
        </p:nvSpPr>
        <p:spPr>
          <a:xfrm>
            <a:off x="704850" y="2286000"/>
            <a:ext cx="3162300" cy="15240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Java 8+ and standard JDK only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Runs on existing college PCs</a:t>
            </a:r>
          </a:p>
          <a:p>
            <a:pPr marL="228600" indent="-228600" algn="l">
              <a:lnSpc>
                <a:spcPct val="105000"/>
              </a:lnSpc>
              <a:spcAft>
                <a:spcPts val="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CSV avoids database setup and cost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042B4C3-82E5-4220-942A-79B3CAA54138}"/>
              </a:ext>
            </a:extLst>
          </p:cNvPr>
          <p:cNvSpPr/>
          <p:nvPr/>
        </p:nvSpPr>
        <p:spPr>
          <a:xfrm>
            <a:off x="4286250" y="1600200"/>
            <a:ext cx="3619500" cy="23812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1A5D193-5C20-416B-B6E2-785D6EADCA7C}"/>
              </a:ext>
            </a:extLst>
          </p:cNvPr>
          <p:cNvSpPr txBox="1"/>
          <p:nvPr/>
        </p:nvSpPr>
        <p:spPr>
          <a:xfrm>
            <a:off x="4514850" y="1790700"/>
            <a:ext cx="31623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487C"/>
                </a:solidFill>
                <a:latin typeface="Arial"/>
                <a:ea typeface="Arial"/>
              </a:rPr>
              <a:t>Economic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9EEA906-EE72-4B25-B9E7-7B8C12E3463D}"/>
              </a:ext>
            </a:extLst>
          </p:cNvPr>
          <p:cNvSpPr txBox="1"/>
          <p:nvPr/>
        </p:nvSpPr>
        <p:spPr>
          <a:xfrm>
            <a:off x="4514850" y="2286000"/>
            <a:ext cx="3162300" cy="15240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No licence or server cost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One-time development effort</a:t>
            </a:r>
          </a:p>
          <a:p>
            <a:pPr marL="228600" indent="-228600" algn="l">
              <a:lnSpc>
                <a:spcPct val="105000"/>
              </a:lnSpc>
              <a:spcAft>
                <a:spcPts val="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Reuses the existing desktops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083C2D70-09C8-4D5A-BA7C-B9FD46343509}"/>
              </a:ext>
            </a:extLst>
          </p:cNvPr>
          <p:cNvSpPr/>
          <p:nvPr/>
        </p:nvSpPr>
        <p:spPr>
          <a:xfrm>
            <a:off x="8096250" y="1600200"/>
            <a:ext cx="3619500" cy="23812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3973900-40EA-41B4-B289-3561D5A2D7E2}"/>
              </a:ext>
            </a:extLst>
          </p:cNvPr>
          <p:cNvSpPr txBox="1"/>
          <p:nvPr/>
        </p:nvSpPr>
        <p:spPr>
          <a:xfrm>
            <a:off x="8324850" y="1790700"/>
            <a:ext cx="31623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487C"/>
                </a:solidFill>
                <a:latin typeface="Arial"/>
                <a:ea typeface="Arial"/>
              </a:rPr>
              <a:t>Operational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DA99A68-FA01-4226-81C5-FCFE6D99CD58}"/>
              </a:ext>
            </a:extLst>
          </p:cNvPr>
          <p:cNvSpPr txBox="1"/>
          <p:nvPr/>
        </p:nvSpPr>
        <p:spPr>
          <a:xfrm>
            <a:off x="8324850" y="2286000"/>
            <a:ext cx="3162300" cy="15240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Simple login and dashboard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GUI, console and TCP modes</a:t>
            </a:r>
          </a:p>
          <a:p>
            <a:pPr marL="228600" indent="-228600" algn="l">
              <a:lnSpc>
                <a:spcPct val="105000"/>
              </a:lnSpc>
              <a:spcAft>
                <a:spcPts val="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Backup and restore included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B6F8E6D-A075-486F-BA29-4F4055C031CB}"/>
              </a:ext>
            </a:extLst>
          </p:cNvPr>
          <p:cNvSpPr txBox="1"/>
          <p:nvPr/>
        </p:nvSpPr>
        <p:spPr>
          <a:xfrm>
            <a:off x="476250" y="4171950"/>
            <a:ext cx="66675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487C"/>
                </a:solidFill>
                <a:latin typeface="Arial"/>
                <a:ea typeface="Arial"/>
              </a:rPr>
              <a:t>Risks already addressed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16F3A7C0-49F6-446E-B3D4-AEF538C13062}"/>
              </a:ext>
            </a:extLst>
          </p:cNvPr>
          <p:cNvSpPr/>
          <p:nvPr/>
        </p:nvSpPr>
        <p:spPr>
          <a:xfrm>
            <a:off x="476250" y="4514850"/>
            <a:ext cx="11239500" cy="400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3D06F02-319C-48C1-B6B7-C7CAAE4E0861}"/>
              </a:ext>
            </a:extLst>
          </p:cNvPr>
          <p:cNvSpPr txBox="1"/>
          <p:nvPr/>
        </p:nvSpPr>
        <p:spPr>
          <a:xfrm>
            <a:off x="666750" y="4514850"/>
            <a:ext cx="10858500" cy="40005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D43438"/>
                </a:solidFill>
                <a:latin typeface="Arial"/>
                <a:ea typeface="Arial"/>
              </a:rPr>
              <a:t>Risk  </a:t>
            </a: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GUI and server overwrite stock  →  lock file + reload before every save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1ED67183-CA01-4E83-9382-DF074676C0CB}"/>
              </a:ext>
            </a:extLst>
          </p:cNvPr>
          <p:cNvSpPr/>
          <p:nvPr/>
        </p:nvSpPr>
        <p:spPr>
          <a:xfrm>
            <a:off x="476250" y="5010150"/>
            <a:ext cx="11239500" cy="400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5A91E3C-AAD0-494B-9740-F457A7ECEA39}"/>
              </a:ext>
            </a:extLst>
          </p:cNvPr>
          <p:cNvSpPr txBox="1"/>
          <p:nvPr/>
        </p:nvSpPr>
        <p:spPr>
          <a:xfrm>
            <a:off x="666750" y="5010150"/>
            <a:ext cx="10858500" cy="40005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D43438"/>
                </a:solidFill>
                <a:latin typeface="Arial"/>
                <a:ea typeface="Arial"/>
              </a:rPr>
              <a:t>Risk  </a:t>
            </a: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Network sale freezes the GUI  →  sale runs on a background thread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DE7A1066-3DC6-4AB8-81E3-161FA8721565}"/>
              </a:ext>
            </a:extLst>
          </p:cNvPr>
          <p:cNvSpPr/>
          <p:nvPr/>
        </p:nvSpPr>
        <p:spPr>
          <a:xfrm>
            <a:off x="476250" y="5505450"/>
            <a:ext cx="11239500" cy="400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0077766-3000-4B30-9491-D7FB676FA338}"/>
              </a:ext>
            </a:extLst>
          </p:cNvPr>
          <p:cNvSpPr txBox="1"/>
          <p:nvPr/>
        </p:nvSpPr>
        <p:spPr>
          <a:xfrm>
            <a:off x="666750" y="5505450"/>
            <a:ext cx="10858500" cy="40005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D43438"/>
                </a:solidFill>
                <a:latin typeface="Arial"/>
                <a:ea typeface="Arial"/>
              </a:rPr>
              <a:t>Risk  </a:t>
            </a:r>
            <a:r>
              <a:rPr sz="1250">
                <a:solidFill>
                  <a:srgbClr val="222222"/>
                </a:solidFill>
                <a:latin typeface="Arial"/>
                <a:ea typeface="Arial"/>
              </a:rPr>
              <a:t>Failed save corrupts the CSV  →  temporary file + atomic rename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FA3D50E-EF77-4B20-8465-A985F80FFD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77375" y="47625"/>
            <a:ext cx="2628900" cy="1019175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2273D5D4-FADB-4452-836E-7CFBF01243DA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286E402-88C6-4FDD-A1B6-D791546C2A3B}"/>
              </a:ext>
            </a:extLst>
          </p:cNvPr>
          <p:cNvSpPr/>
          <p:nvPr/>
        </p:nvSpPr>
        <p:spPr>
          <a:xfrm>
            <a:off x="333375" y="257175"/>
            <a:ext cx="1257300" cy="8001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</a:rPr>
              <a:t>GROUP 24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93410C6-7824-49C4-869D-5F7E9B11D462}"/>
              </a:ext>
            </a:extLst>
          </p:cNvPr>
          <p:cNvSpPr txBox="1"/>
          <p:nvPr/>
        </p:nvSpPr>
        <p:spPr>
          <a:xfrm>
            <a:off x="1809750" y="152400"/>
            <a:ext cx="7524750" cy="5905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Times New Roman"/>
              </a:rPr>
              <a:t>IMPACT AND BENEFITS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488C9E9-2770-4E12-8FE4-DA174CEEEE8B}"/>
              </a:ext>
            </a:extLst>
          </p:cNvPr>
          <p:cNvSpPr/>
          <p:nvPr/>
        </p:nvSpPr>
        <p:spPr>
          <a:xfrm>
            <a:off x="0" y="6353175"/>
            <a:ext cx="12192000" cy="504825"/>
          </a:xfrm>
          <a:prstGeom prst="rect">
            <a:avLst/>
          </a:prstGeom>
          <a:solidFill>
            <a:srgbClr val="006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572A126-B405-48D1-B660-5BEB1D655138}"/>
              </a:ext>
            </a:extLst>
          </p:cNvPr>
          <p:cNvSpPr txBox="1"/>
          <p:nvPr/>
        </p:nvSpPr>
        <p:spPr>
          <a:xfrm>
            <a:off x="11334750" y="6486525"/>
            <a:ext cx="476250" cy="209550"/>
          </a:xfrm>
        </p:spPr>
        <p:txBody>
          <a:bodyPr wrap="square" rtlCol="0" lIns="0" tIns="0" rIns="0" bIns="0" anchor="ctr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CABAB08-C170-4F75-9594-EC3DD6292B65}"/>
              </a:ext>
            </a:extLst>
          </p:cNvPr>
          <p:cNvSpPr txBox="1"/>
          <p:nvPr/>
        </p:nvSpPr>
        <p:spPr>
          <a:xfrm>
            <a:off x="476250" y="11430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487C"/>
                </a:solidFill>
                <a:latin typeface="Arial"/>
                <a:ea typeface="Arial"/>
              </a:rPr>
              <a:t>Who benefits from it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DFE0C0B-7D75-4CA3-AE99-518F88A0569E}"/>
              </a:ext>
            </a:extLst>
          </p:cNvPr>
          <p:cNvSpPr/>
          <p:nvPr/>
        </p:nvSpPr>
        <p:spPr>
          <a:xfrm>
            <a:off x="476250" y="1466850"/>
            <a:ext cx="3619500" cy="5143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487C"/>
                </a:solidFill>
                <a:latin typeface="Arial"/>
                <a:ea typeface="Arial"/>
              </a:rPr>
              <a:t>Pharmacy staff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2957A66-8DF5-4792-B227-F6CBA67182B4}"/>
              </a:ext>
            </a:extLst>
          </p:cNvPr>
          <p:cNvSpPr/>
          <p:nvPr/>
        </p:nvSpPr>
        <p:spPr>
          <a:xfrm>
            <a:off x="4286250" y="1466850"/>
            <a:ext cx="3619500" cy="5143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487C"/>
                </a:solidFill>
                <a:latin typeface="Arial"/>
                <a:ea typeface="Arial"/>
              </a:rPr>
              <a:t>Hospital administrators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B561FA8-B2D1-4BFE-9E47-D8DFF94F164B}"/>
              </a:ext>
            </a:extLst>
          </p:cNvPr>
          <p:cNvSpPr/>
          <p:nvPr/>
        </p:nvSpPr>
        <p:spPr>
          <a:xfrm>
            <a:off x="8096250" y="1466850"/>
            <a:ext cx="3619500" cy="51435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487C"/>
                </a:solidFill>
                <a:latin typeface="Arial"/>
                <a:ea typeface="Arial"/>
              </a:rPr>
              <a:t>Patients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346B152-3A48-4303-8FB6-76D2A2F8C696}"/>
              </a:ext>
            </a:extLst>
          </p:cNvPr>
          <p:cNvSpPr/>
          <p:nvPr/>
        </p:nvSpPr>
        <p:spPr>
          <a:xfrm>
            <a:off x="476250" y="2266950"/>
            <a:ext cx="3619500" cy="2667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00A35F-5995-4710-998A-484AE0DD208C}"/>
              </a:ext>
            </a:extLst>
          </p:cNvPr>
          <p:cNvSpPr txBox="1"/>
          <p:nvPr/>
        </p:nvSpPr>
        <p:spPr>
          <a:xfrm>
            <a:off x="704850" y="2457450"/>
            <a:ext cx="31623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487C"/>
                </a:solidFill>
                <a:latin typeface="Arial"/>
                <a:ea typeface="Arial"/>
              </a:rPr>
              <a:t>Social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C51BF6-E9A9-47C2-8C9F-4FBA8C6BFEE8}"/>
              </a:ext>
            </a:extLst>
          </p:cNvPr>
          <p:cNvSpPr txBox="1"/>
          <p:nvPr/>
        </p:nvSpPr>
        <p:spPr>
          <a:xfrm>
            <a:off x="704850" y="2933700"/>
            <a:ext cx="3162300" cy="1714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Expired medicines blocked at sale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Low-stock and expiry alerts</a:t>
            </a:r>
          </a:p>
          <a:p>
            <a:pPr marL="228600" indent="-228600" algn="l">
              <a:lnSpc>
                <a:spcPct val="105000"/>
              </a:lnSpc>
              <a:spcAft>
                <a:spcPts val="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Safer availability for patients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61CECF9D-FC4B-4217-8C99-36BF0D421BA9}"/>
              </a:ext>
            </a:extLst>
          </p:cNvPr>
          <p:cNvSpPr/>
          <p:nvPr/>
        </p:nvSpPr>
        <p:spPr>
          <a:xfrm>
            <a:off x="4286250" y="2266950"/>
            <a:ext cx="3619500" cy="2667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0AE44CA-B74D-4D31-A653-E65DE6054254}"/>
              </a:ext>
            </a:extLst>
          </p:cNvPr>
          <p:cNvSpPr txBox="1"/>
          <p:nvPr/>
        </p:nvSpPr>
        <p:spPr>
          <a:xfrm>
            <a:off x="4514850" y="2457450"/>
            <a:ext cx="31623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487C"/>
                </a:solidFill>
                <a:latin typeface="Arial"/>
                <a:ea typeface="Arial"/>
              </a:rPr>
              <a:t>Economic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3C6F3E3-73A4-45E8-BB6B-C3D141513FD7}"/>
              </a:ext>
            </a:extLst>
          </p:cNvPr>
          <p:cNvSpPr txBox="1"/>
          <p:nvPr/>
        </p:nvSpPr>
        <p:spPr>
          <a:xfrm>
            <a:off x="4514850" y="2933700"/>
            <a:ext cx="3162300" cy="1714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Zero software licence cost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Less wastage from expiry</a:t>
            </a:r>
          </a:p>
          <a:p>
            <a:pPr marL="228600" indent="-228600" algn="l">
              <a:lnSpc>
                <a:spcPct val="105000"/>
              </a:lnSpc>
              <a:spcAft>
                <a:spcPts val="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Faster reporting and reordering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B91ECB59-B1F3-4222-A735-1FF7ECAE6BE7}"/>
              </a:ext>
            </a:extLst>
          </p:cNvPr>
          <p:cNvSpPr/>
          <p:nvPr/>
        </p:nvSpPr>
        <p:spPr>
          <a:xfrm>
            <a:off x="8096250" y="2266950"/>
            <a:ext cx="3619500" cy="2667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EEA9637-3695-4B34-8137-D59435C4EF00}"/>
              </a:ext>
            </a:extLst>
          </p:cNvPr>
          <p:cNvSpPr txBox="1"/>
          <p:nvPr/>
        </p:nvSpPr>
        <p:spPr>
          <a:xfrm>
            <a:off x="8324850" y="2457450"/>
            <a:ext cx="31623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487C"/>
                </a:solidFill>
                <a:latin typeface="Arial"/>
                <a:ea typeface="Arial"/>
              </a:rPr>
              <a:t>Environmental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419326E-E844-4DCB-86E8-D222226F7A14}"/>
              </a:ext>
            </a:extLst>
          </p:cNvPr>
          <p:cNvSpPr txBox="1"/>
          <p:nvPr/>
        </p:nvSpPr>
        <p:spPr>
          <a:xfrm>
            <a:off x="8324850" y="2933700"/>
            <a:ext cx="3162300" cy="1714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Less expired-stock disposal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Less paper register use</a:t>
            </a:r>
          </a:p>
          <a:p>
            <a:pPr marL="228600" indent="-228600" algn="l">
              <a:lnSpc>
                <a:spcPct val="105000"/>
              </a:lnSpc>
              <a:spcAft>
                <a:spcPts val="0"/>
              </a:spcAft>
              <a:buChar char="•"/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Offline system, no server power draw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ADE5715-05B9-44B5-B455-B1BA9E3A3D47}"/>
              </a:ext>
            </a:extLst>
          </p:cNvPr>
          <p:cNvSpPr/>
          <p:nvPr/>
        </p:nvSpPr>
        <p:spPr>
          <a:xfrm>
            <a:off x="476250" y="5162550"/>
            <a:ext cx="11239500" cy="742950"/>
          </a:xfrm>
          <a:prstGeom prst="roundRect">
            <a:avLst/>
          </a:prstGeom>
          <a:solidFill>
            <a:srgbClr val="1F487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5ACF1A5-F87D-4CA6-A20F-D50AA516D86C}"/>
              </a:ext>
            </a:extLst>
          </p:cNvPr>
          <p:cNvSpPr txBox="1"/>
          <p:nvPr/>
        </p:nvSpPr>
        <p:spPr>
          <a:xfrm>
            <a:off x="704850" y="5257800"/>
            <a:ext cx="10782300" cy="55245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SDG 3  ·  Good Health and Well-being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EAF1F8"/>
                </a:solidFill>
                <a:latin typeface="Arial"/>
                <a:ea typeface="Arial"/>
              </a:rPr>
              <a:t>Timely stock and expiry control supports safer medicine availability.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45BB0D5-2095-47DD-8BD1-A51A0E12C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77375" y="47625"/>
            <a:ext cx="2628900" cy="1019175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B2747D0C-DB2A-4863-A9A1-0F1B64AABC08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992BE45-FDC3-4291-AAE1-9ED50909EED2}"/>
              </a:ext>
            </a:extLst>
          </p:cNvPr>
          <p:cNvSpPr/>
          <p:nvPr/>
        </p:nvSpPr>
        <p:spPr>
          <a:xfrm>
            <a:off x="333375" y="257175"/>
            <a:ext cx="1257300" cy="8001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</a:rPr>
              <a:t>GROUP 24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AA73FA7-66B7-474B-BDF9-58EC2EF6F5E7}"/>
              </a:ext>
            </a:extLst>
          </p:cNvPr>
          <p:cNvSpPr txBox="1"/>
          <p:nvPr/>
        </p:nvSpPr>
        <p:spPr>
          <a:xfrm>
            <a:off x="1809750" y="152400"/>
            <a:ext cx="7524750" cy="5905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Times New Roman"/>
              </a:rPr>
              <a:t>Limitation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065ABAE-D090-4F64-95FF-725547BAEF53}"/>
              </a:ext>
            </a:extLst>
          </p:cNvPr>
          <p:cNvSpPr/>
          <p:nvPr/>
        </p:nvSpPr>
        <p:spPr>
          <a:xfrm>
            <a:off x="0" y="6353175"/>
            <a:ext cx="12192000" cy="504825"/>
          </a:xfrm>
          <a:prstGeom prst="rect">
            <a:avLst/>
          </a:prstGeom>
          <a:solidFill>
            <a:srgbClr val="006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DDBF601-A311-4626-A139-8DB71532DD92}"/>
              </a:ext>
            </a:extLst>
          </p:cNvPr>
          <p:cNvSpPr txBox="1"/>
          <p:nvPr/>
        </p:nvSpPr>
        <p:spPr>
          <a:xfrm>
            <a:off x="11334750" y="6486525"/>
            <a:ext cx="476250" cy="209550"/>
          </a:xfrm>
        </p:spPr>
        <p:txBody>
          <a:bodyPr wrap="square" rtlCol="0" lIns="0" tIns="0" rIns="0" bIns="0" anchor="ctr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F952401-F2E2-45CB-81A7-8FDA269524A8}"/>
              </a:ext>
            </a:extLst>
          </p:cNvPr>
          <p:cNvSpPr txBox="1"/>
          <p:nvPr/>
        </p:nvSpPr>
        <p:spPr>
          <a:xfrm>
            <a:off x="476250" y="1143000"/>
            <a:ext cx="110490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>
                <a:solidFill>
                  <a:srgbClr val="222222"/>
                </a:solidFill>
                <a:latin typeface="Arial"/>
                <a:ea typeface="Arial"/>
              </a:rPr>
              <a:t>Five limits are visible in the current build; each has a workaround or a clear next step.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E06347D-878E-4AE2-9AF7-635A89B0340C}"/>
              </a:ext>
            </a:extLst>
          </p:cNvPr>
          <p:cNvSpPr txBox="1"/>
          <p:nvPr/>
        </p:nvSpPr>
        <p:spPr>
          <a:xfrm>
            <a:off x="476250" y="1600200"/>
            <a:ext cx="66675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487C"/>
                </a:solidFill>
                <a:latin typeface="Arial"/>
                <a:ea typeface="Arial"/>
              </a:rPr>
              <a:t>Current limitation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09C669E-F82B-435E-BD10-1EFA8DDFDA8E}"/>
              </a:ext>
            </a:extLst>
          </p:cNvPr>
          <p:cNvSpPr txBox="1"/>
          <p:nvPr/>
        </p:nvSpPr>
        <p:spPr>
          <a:xfrm>
            <a:off x="7239000" y="1600200"/>
            <a:ext cx="44767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487C"/>
                </a:solidFill>
                <a:latin typeface="Arial"/>
                <a:ea typeface="Arial"/>
              </a:rPr>
              <a:t>Workaround / next step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90ECCA4-8685-47A7-8785-1EB48AFCD1B5}"/>
              </a:ext>
            </a:extLst>
          </p:cNvPr>
          <p:cNvSpPr/>
          <p:nvPr/>
        </p:nvSpPr>
        <p:spPr>
          <a:xfrm>
            <a:off x="476250" y="1943100"/>
            <a:ext cx="6667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F851498-5C57-4898-BC84-C03B8F85D8A8}"/>
              </a:ext>
            </a:extLst>
          </p:cNvPr>
          <p:cNvSpPr txBox="1"/>
          <p:nvPr/>
        </p:nvSpPr>
        <p:spPr>
          <a:xfrm>
            <a:off x="647700" y="1943100"/>
            <a:ext cx="632460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F487C"/>
                </a:solidFill>
                <a:latin typeface="Arial"/>
                <a:ea typeface="Arial"/>
              </a:rPr>
              <a:t>1  </a:t>
            </a: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CSV file, not a database server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42ABAA1-F7F3-4F3D-81B4-715287D56E26}"/>
              </a:ext>
            </a:extLst>
          </p:cNvPr>
          <p:cNvSpPr/>
          <p:nvPr/>
        </p:nvSpPr>
        <p:spPr>
          <a:xfrm>
            <a:off x="7239000" y="1943100"/>
            <a:ext cx="447675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82EE225-9CBF-447C-AB6B-0CBF02D57DF0}"/>
              </a:ext>
            </a:extLst>
          </p:cNvPr>
          <p:cNvSpPr txBox="1"/>
          <p:nvPr/>
        </p:nvSpPr>
        <p:spPr>
          <a:xfrm>
            <a:off x="7410450" y="1943100"/>
            <a:ext cx="413385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Lock file protects local GUI + server saves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B6B121A-4B63-4901-9324-3DB098FFEE3C}"/>
              </a:ext>
            </a:extLst>
          </p:cNvPr>
          <p:cNvSpPr/>
          <p:nvPr/>
        </p:nvSpPr>
        <p:spPr>
          <a:xfrm>
            <a:off x="476250" y="2571750"/>
            <a:ext cx="6667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A4CA99D-DCE3-4B85-BF62-43933B0B07ED}"/>
              </a:ext>
            </a:extLst>
          </p:cNvPr>
          <p:cNvSpPr txBox="1"/>
          <p:nvPr/>
        </p:nvSpPr>
        <p:spPr>
          <a:xfrm>
            <a:off x="647700" y="2571750"/>
            <a:ext cx="632460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F487C"/>
                </a:solidFill>
                <a:latin typeface="Arial"/>
                <a:ea typeface="Arial"/>
              </a:rPr>
              <a:t>2  </a:t>
            </a: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Desktop-only Swing interface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03F7843-0CAE-40CB-A399-97F9A3E307C9}"/>
              </a:ext>
            </a:extLst>
          </p:cNvPr>
          <p:cNvSpPr/>
          <p:nvPr/>
        </p:nvSpPr>
        <p:spPr>
          <a:xfrm>
            <a:off x="7239000" y="2571750"/>
            <a:ext cx="447675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6B470D9-C900-4933-A98B-4F73603860A4}"/>
              </a:ext>
            </a:extLst>
          </p:cNvPr>
          <p:cNvSpPr txBox="1"/>
          <p:nvPr/>
        </p:nvSpPr>
        <p:spPr>
          <a:xfrm>
            <a:off x="7410450" y="2571750"/>
            <a:ext cx="413385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Console mode keeps the core usable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61A20703-4B9A-4F89-B711-D176C549FBE4}"/>
              </a:ext>
            </a:extLst>
          </p:cNvPr>
          <p:cNvSpPr/>
          <p:nvPr/>
        </p:nvSpPr>
        <p:spPr>
          <a:xfrm>
            <a:off x="476250" y="3200400"/>
            <a:ext cx="6667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9140455-EAF0-4731-9381-6E5892E107A6}"/>
              </a:ext>
            </a:extLst>
          </p:cNvPr>
          <p:cNvSpPr txBox="1"/>
          <p:nvPr/>
        </p:nvSpPr>
        <p:spPr>
          <a:xfrm>
            <a:off x="647700" y="3200400"/>
            <a:ext cx="632460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F487C"/>
                </a:solidFill>
                <a:latin typeface="Arial"/>
                <a:ea typeface="Arial"/>
              </a:rPr>
              <a:t>3  </a:t>
            </a: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Basic username and password login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3961706-E4AE-4B8C-8D1C-9C7C607BF81E}"/>
              </a:ext>
            </a:extLst>
          </p:cNvPr>
          <p:cNvSpPr/>
          <p:nvPr/>
        </p:nvSpPr>
        <p:spPr>
          <a:xfrm>
            <a:off x="7239000" y="3200400"/>
            <a:ext cx="447675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BE093B6-AC2F-46F4-8157-C8E5EE370343}"/>
              </a:ext>
            </a:extLst>
          </p:cNvPr>
          <p:cNvSpPr txBox="1"/>
          <p:nvPr/>
        </p:nvSpPr>
        <p:spPr>
          <a:xfrm>
            <a:off x="7410450" y="3200400"/>
            <a:ext cx="413385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Role-based access and hashing planned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003926B7-6279-4B3E-9B12-01FC5E044496}"/>
              </a:ext>
            </a:extLst>
          </p:cNvPr>
          <p:cNvSpPr/>
          <p:nvPr/>
        </p:nvSpPr>
        <p:spPr>
          <a:xfrm>
            <a:off x="476250" y="3829050"/>
            <a:ext cx="6667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405C436-7889-48D6-8D2B-987EF936D0F6}"/>
              </a:ext>
            </a:extLst>
          </p:cNvPr>
          <p:cNvSpPr txBox="1"/>
          <p:nvPr/>
        </p:nvSpPr>
        <p:spPr>
          <a:xfrm>
            <a:off x="647700" y="3829050"/>
            <a:ext cx="632460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F487C"/>
                </a:solidFill>
                <a:latin typeface="Arial"/>
                <a:ea typeface="Arial"/>
              </a:rPr>
              <a:t>4  </a:t>
            </a: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Demo catalog uses public medicine data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EAD2CDB4-038F-4F12-B53F-19B14D48A953}"/>
              </a:ext>
            </a:extLst>
          </p:cNvPr>
          <p:cNvSpPr/>
          <p:nvPr/>
        </p:nvSpPr>
        <p:spPr>
          <a:xfrm>
            <a:off x="7239000" y="3829050"/>
            <a:ext cx="447675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19F5A34-535F-4F7D-AFEF-A02922DAB46C}"/>
              </a:ext>
            </a:extLst>
          </p:cNvPr>
          <p:cNvSpPr txBox="1"/>
          <p:nvPr/>
        </p:nvSpPr>
        <p:spPr>
          <a:xfrm>
            <a:off x="7410450" y="3829050"/>
            <a:ext cx="413385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Pharmacy-specific import before deployment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E09CD3B2-CF77-4228-B6F7-C6A8DAEDBA16}"/>
              </a:ext>
            </a:extLst>
          </p:cNvPr>
          <p:cNvSpPr/>
          <p:nvPr/>
        </p:nvSpPr>
        <p:spPr>
          <a:xfrm>
            <a:off x="476250" y="4457700"/>
            <a:ext cx="6667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C8D27C3-EEE4-459F-9685-AC268BD1355E}"/>
              </a:ext>
            </a:extLst>
          </p:cNvPr>
          <p:cNvSpPr txBox="1"/>
          <p:nvPr/>
        </p:nvSpPr>
        <p:spPr>
          <a:xfrm>
            <a:off x="647700" y="4457700"/>
            <a:ext cx="632460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F487C"/>
                </a:solidFill>
                <a:latin typeface="Arial"/>
                <a:ea typeface="Arial"/>
              </a:rPr>
              <a:t>5  </a:t>
            </a: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TCP server handles one request per connection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BF6426EA-D39A-453C-B7ED-A9BB4E786038}"/>
              </a:ext>
            </a:extLst>
          </p:cNvPr>
          <p:cNvSpPr/>
          <p:nvPr/>
        </p:nvSpPr>
        <p:spPr>
          <a:xfrm>
            <a:off x="7239000" y="4457700"/>
            <a:ext cx="447675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2441750-8F35-4985-837D-C9FB458D79E1}"/>
              </a:ext>
            </a:extLst>
          </p:cNvPr>
          <p:cNvSpPr txBox="1"/>
          <p:nvPr/>
        </p:nvSpPr>
        <p:spPr>
          <a:xfrm>
            <a:off x="7410450" y="4457700"/>
            <a:ext cx="413385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Arial"/>
                <a:ea typeface="Arial"/>
              </a:rPr>
              <a:t>Thread pool planned for many counters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F6BF1607-58C1-4F79-90C4-641FFB70D8C9}"/>
              </a:ext>
            </a:extLst>
          </p:cNvPr>
          <p:cNvSpPr/>
          <p:nvPr/>
        </p:nvSpPr>
        <p:spPr>
          <a:xfrm>
            <a:off x="476250" y="5219700"/>
            <a:ext cx="11239500" cy="533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Scope: an offline academic capstone, not a production hospital ERP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B7A728A0-888D-435F-9007-A4F405FA8F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77375" y="47625"/>
            <a:ext cx="2628900" cy="1019175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AA116F17-E344-43ED-B078-BCA0CC585B71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AD3F13C-2E86-4F95-8DD7-15BA85009A15}"/>
              </a:ext>
            </a:extLst>
          </p:cNvPr>
          <p:cNvSpPr/>
          <p:nvPr/>
        </p:nvSpPr>
        <p:spPr>
          <a:xfrm>
            <a:off x="333375" y="257175"/>
            <a:ext cx="1257300" cy="8001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3A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</a:rPr>
              <a:t>GROUP 24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B64D72-6C02-436F-9CDF-DD2034EB1236}"/>
              </a:ext>
            </a:extLst>
          </p:cNvPr>
          <p:cNvSpPr txBox="1"/>
          <p:nvPr/>
        </p:nvSpPr>
        <p:spPr>
          <a:xfrm>
            <a:off x="1809750" y="152400"/>
            <a:ext cx="7524750" cy="5905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Times New Roman"/>
              </a:rPr>
              <a:t>GITHUB LINK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B2337CC-FF8A-4D5E-A8AE-0C30ED4A7037}"/>
              </a:ext>
            </a:extLst>
          </p:cNvPr>
          <p:cNvSpPr/>
          <p:nvPr/>
        </p:nvSpPr>
        <p:spPr>
          <a:xfrm>
            <a:off x="0" y="6353175"/>
            <a:ext cx="12192000" cy="504825"/>
          </a:xfrm>
          <a:prstGeom prst="rect">
            <a:avLst/>
          </a:prstGeom>
          <a:solidFill>
            <a:srgbClr val="006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A5142A-7143-4A24-9EB3-D1D7C10925BB}"/>
              </a:ext>
            </a:extLst>
          </p:cNvPr>
          <p:cNvSpPr txBox="1"/>
          <p:nvPr/>
        </p:nvSpPr>
        <p:spPr>
          <a:xfrm>
            <a:off x="11334750" y="6486525"/>
            <a:ext cx="476250" cy="209550"/>
          </a:xfrm>
        </p:spPr>
        <p:txBody>
          <a:bodyPr wrap="square" rtlCol="0" lIns="0" tIns="0" rIns="0" bIns="0" anchor="ctr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9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AA51AB4-F86B-4394-A116-F779CE6C02E7}"/>
              </a:ext>
            </a:extLst>
          </p:cNvPr>
          <p:cNvSpPr/>
          <p:nvPr/>
        </p:nvSpPr>
        <p:spPr>
          <a:xfrm>
            <a:off x="476250" y="1190625"/>
            <a:ext cx="62865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663F16-7B10-4444-AC25-971381703E2E}"/>
              </a:ext>
            </a:extLst>
          </p:cNvPr>
          <p:cNvSpPr txBox="1"/>
          <p:nvPr/>
        </p:nvSpPr>
        <p:spPr>
          <a:xfrm>
            <a:off x="704850" y="1381125"/>
            <a:ext cx="57150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487C"/>
                </a:solidFill>
                <a:latin typeface="Arial"/>
                <a:ea typeface="Arial"/>
              </a:rPr>
              <a:t>Source bundle in this submission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BDCC04C-388D-4860-9809-3D0C91261F07}"/>
              </a:ext>
            </a:extLst>
          </p:cNvPr>
          <p:cNvSpPr txBox="1"/>
          <p:nvPr/>
        </p:nvSpPr>
        <p:spPr>
          <a:xfrm>
            <a:off x="704850" y="1885950"/>
            <a:ext cx="5715000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Consolas"/>
                <a:ea typeface="Consolas"/>
              </a:rPr>
              <a:t>MedicalInventory/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Consolas"/>
                <a:ea typeface="Consolas"/>
              </a:rPr>
              <a:t>├─ src/                     44 Java files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Consolas"/>
                <a:ea typeface="Consolas"/>
              </a:rPr>
              <a:t>├─ data/medicines.csv       500 records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Consolas"/>
                <a:ea typeface="Consolas"/>
              </a:rPr>
              <a:t>├─ run.bat                  build + launch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Consolas"/>
                <a:ea typeface="Consolas"/>
              </a:rPr>
              <a:t>├─ Team24_..._Report.docx   editable report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>
                <a:solidFill>
                  <a:srgbClr val="222222"/>
                </a:solidFill>
                <a:latin typeface="Consolas"/>
                <a:ea typeface="Consolas"/>
              </a:rPr>
              <a:t>└─ Team24_..._Report.pdf    submission copy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7FFC5E7-5820-4026-A0FA-43F2DBAB5B22}"/>
              </a:ext>
            </a:extLst>
          </p:cNvPr>
          <p:cNvSpPr txBox="1"/>
          <p:nvPr/>
        </p:nvSpPr>
        <p:spPr>
          <a:xfrm>
            <a:off x="704850" y="5105400"/>
            <a:ext cx="5715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>
                <a:solidFill>
                  <a:srgbClr val="444444"/>
                </a:solidFill>
                <a:latin typeface="Arial"/>
                <a:ea typeface="Arial"/>
              </a:rPr>
              <a:t>The complete buildable project travels with the submission.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3048D5D-2F5F-4594-A86D-F2B2FB654FF0}"/>
              </a:ext>
            </a:extLst>
          </p:cNvPr>
          <p:cNvSpPr/>
          <p:nvPr/>
        </p:nvSpPr>
        <p:spPr>
          <a:xfrm>
            <a:off x="7143750" y="1190625"/>
            <a:ext cx="4572000" cy="4572000"/>
          </a:xfrm>
          <a:prstGeom prst="roundRect">
            <a:avLst/>
          </a:prstGeom>
          <a:solidFill>
            <a:srgbClr val="1F293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3FD3DE7-51EB-408E-9012-E5D90F3AACB8}"/>
              </a:ext>
            </a:extLst>
          </p:cNvPr>
          <p:cNvSpPr txBox="1"/>
          <p:nvPr/>
        </p:nvSpPr>
        <p:spPr>
          <a:xfrm>
            <a:off x="7429500" y="1447800"/>
            <a:ext cx="40005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BUILD &amp; RUN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67793B3-32BB-45A4-9ED4-81AD1236BC7A}"/>
              </a:ext>
            </a:extLst>
          </p:cNvPr>
          <p:cNvSpPr txBox="1"/>
          <p:nvPr/>
        </p:nvSpPr>
        <p:spPr>
          <a:xfrm>
            <a:off x="7429500" y="1924050"/>
            <a:ext cx="4000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9CC3E8"/>
                </a:solidFill>
                <a:latin typeface="Arial"/>
                <a:ea typeface="Arial"/>
              </a:rPr>
              <a:t>1  Compile and launch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98533D6-5AAC-4ECC-A3A5-84B7E9BBBE65}"/>
              </a:ext>
            </a:extLst>
          </p:cNvPr>
          <p:cNvSpPr txBox="1"/>
          <p:nvPr/>
        </p:nvSpPr>
        <p:spPr>
          <a:xfrm>
            <a:off x="7429500" y="2152650"/>
            <a:ext cx="4000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onsolas"/>
                <a:ea typeface="Consolas"/>
              </a:rPr>
              <a:t>run.bat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58B9896-1C9D-4694-BC52-4FC76A2EE860}"/>
              </a:ext>
            </a:extLst>
          </p:cNvPr>
          <p:cNvSpPr txBox="1"/>
          <p:nvPr/>
        </p:nvSpPr>
        <p:spPr>
          <a:xfrm>
            <a:off x="7429500" y="2686050"/>
            <a:ext cx="4000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9CC3E8"/>
                </a:solidFill>
                <a:latin typeface="Arial"/>
                <a:ea typeface="Arial"/>
              </a:rPr>
              <a:t>2  Start the sales-counter server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36CCEC6-28BE-4ED9-B687-F4E366B9BBD4}"/>
              </a:ext>
            </a:extLst>
          </p:cNvPr>
          <p:cNvSpPr txBox="1"/>
          <p:nvPr/>
        </p:nvSpPr>
        <p:spPr>
          <a:xfrm>
            <a:off x="7429500" y="2914650"/>
            <a:ext cx="4000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</a:rPr>
              <a:t>java -cp out network.InventoryServer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DB414F8-7214-4E32-B4E4-C64E458F4CEE}"/>
              </a:ext>
            </a:extLst>
          </p:cNvPr>
          <p:cNvSpPr txBox="1"/>
          <p:nvPr/>
        </p:nvSpPr>
        <p:spPr>
          <a:xfrm>
            <a:off x="7429500" y="3448050"/>
            <a:ext cx="4000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9CC3E8"/>
                </a:solidFill>
                <a:latin typeface="Arial"/>
                <a:ea typeface="Arial"/>
              </a:rPr>
              <a:t>3  Open console mode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B60C2C0-65A8-41F9-BB99-D31E900637A0}"/>
              </a:ext>
            </a:extLst>
          </p:cNvPr>
          <p:cNvSpPr txBox="1"/>
          <p:nvPr/>
        </p:nvSpPr>
        <p:spPr>
          <a:xfrm>
            <a:off x="7429500" y="3676650"/>
            <a:ext cx="4000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FFFFFF"/>
                </a:solidFill>
                <a:latin typeface="Consolas"/>
                <a:ea typeface="Consolas"/>
              </a:rPr>
              <a:t>java -cp out gui.Main -console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61D10B7-811F-4DB0-ADBD-06A726E81B6A}"/>
              </a:ext>
            </a:extLst>
          </p:cNvPr>
          <p:cNvSpPr/>
          <p:nvPr/>
        </p:nvSpPr>
        <p:spPr>
          <a:xfrm>
            <a:off x="7429500" y="4171950"/>
            <a:ext cx="4000500" cy="9525"/>
          </a:xfrm>
          <a:prstGeom prst="rect">
            <a:avLst/>
          </a:prstGeom>
          <a:solidFill>
            <a:srgbClr val="4B556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D522601-467B-4CFA-8F4D-6919E402462B}"/>
              </a:ext>
            </a:extLst>
          </p:cNvPr>
          <p:cNvSpPr txBox="1"/>
          <p:nvPr/>
        </p:nvSpPr>
        <p:spPr>
          <a:xfrm>
            <a:off x="7429500" y="4343400"/>
            <a:ext cx="4000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</a:rPr>
              <a:t>Repository status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748F79F-4162-49CA-9106-9C6AB82666C5}"/>
              </a:ext>
            </a:extLst>
          </p:cNvPr>
          <p:cNvSpPr txBox="1"/>
          <p:nvPr/>
        </p:nvSpPr>
        <p:spPr>
          <a:xfrm>
            <a:off x="7429500" y="4610100"/>
            <a:ext cx="40005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>
                <a:solidFill>
                  <a:srgbClr val="E5E7EB"/>
                </a:solidFill>
                <a:latin typeface="Arial"/>
                <a:ea typeface="Arial"/>
              </a:rPr>
              <a:t>No public GitHub remote is configured in this project bundle.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4AE5CCC-CE7F-43B7-93DF-D7AF51845C7A}"/>
              </a:ext>
            </a:extLst>
          </p:cNvPr>
          <p:cNvSpPr txBox="1"/>
          <p:nvPr/>
        </p:nvSpPr>
        <p:spPr>
          <a:xfrm>
            <a:off x="7429500" y="5334000"/>
            <a:ext cx="40005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9CA3AF"/>
                </a:solidFill>
                <a:latin typeface="Arial"/>
                <a:ea typeface="Arial"/>
              </a:rPr>
              <a:t>All source and data are available for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B5725B18-C604-47A3-81FB-24DC50D0B4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77375" y="47625"/>
            <a:ext cx="2628900" cy="1019175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7AD00B80-C281-4331-B79D-B0355C1E5E5D}"/>
              </a:ext>
            </a:extLst>
          </p:cNvPr>
          <p:cNvSpPr/>
          <p:nvPr/>
        </p:nvSpPr>
        <p:spPr>
          <a:xfrm>
            <a:off x="12068175" y="171450"/>
            <a:ext cx="19050" cy="685800"/>
          </a:xfrm>
          <a:prstGeom prst="rect">
            <a:avLst/>
          </a:prstGeom>
          <a:solidFill>
            <a:srgbClr val="0000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CA56AD9-D565-4FF1-BD95-9CC657856A31}"/>
              </a:ext>
            </a:extLst>
          </p:cNvPr>
          <p:cNvSpPr/>
          <p:nvPr/>
        </p:nvSpPr>
        <p:spPr>
          <a:xfrm>
            <a:off x="0" y="6353175"/>
            <a:ext cx="12192000" cy="504825"/>
          </a:xfrm>
          <a:prstGeom prst="rect">
            <a:avLst/>
          </a:prstGeom>
          <a:solidFill>
            <a:srgbClr val="006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EA7F17B-5648-4F86-A529-03DFF888A2D8}"/>
              </a:ext>
            </a:extLst>
          </p:cNvPr>
          <p:cNvSpPr txBox="1"/>
          <p:nvPr/>
        </p:nvSpPr>
        <p:spPr>
          <a:xfrm>
            <a:off x="11334750" y="6486525"/>
            <a:ext cx="476250" cy="209550"/>
          </a:xfrm>
        </p:spPr>
        <p:txBody>
          <a:bodyPr wrap="square" rtlCol="0" lIns="0" tIns="0" rIns="0" bIns="0" anchor="ctr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5B4FE85-D514-4552-8F05-E696D4583DA8}"/>
              </a:ext>
            </a:extLst>
          </p:cNvPr>
          <p:cNvSpPr txBox="1"/>
          <p:nvPr/>
        </p:nvSpPr>
        <p:spPr>
          <a:xfrm>
            <a:off x="1809750" y="666750"/>
            <a:ext cx="7524750" cy="8953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0" b="1">
                <a:solidFill>
                  <a:srgbClr val="1F487C"/>
                </a:solidFill>
                <a:latin typeface="Times New Roman"/>
                <a:ea typeface="Times New Roman"/>
              </a:rPr>
              <a:t>THANK YOU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A25DDA4-4B41-4753-B904-B949E7E4E647}"/>
              </a:ext>
            </a:extLst>
          </p:cNvPr>
          <p:cNvSpPr txBox="1"/>
          <p:nvPr/>
        </p:nvSpPr>
        <p:spPr>
          <a:xfrm>
            <a:off x="1809750" y="1714500"/>
            <a:ext cx="7524750" cy="3810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000000"/>
                </a:solidFill>
                <a:latin typeface="Arial"/>
                <a:ea typeface="Arial"/>
              </a:rPr>
              <a:t>Questions &amp; Discussion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43EB2D5-D05E-4A3B-B211-7CE9A5F2E64F}"/>
              </a:ext>
            </a:extLst>
          </p:cNvPr>
          <p:cNvSpPr/>
          <p:nvPr/>
        </p:nvSpPr>
        <p:spPr>
          <a:xfrm>
            <a:off x="4953000" y="2209800"/>
            <a:ext cx="2286000" cy="19050"/>
          </a:xfrm>
          <a:prstGeom prst="rect">
            <a:avLst/>
          </a:prstGeom>
          <a:solidFill>
            <a:srgbClr val="1F487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5B5F35-E5C0-4CA9-8503-10C3784C9A25}"/>
              </a:ext>
            </a:extLst>
          </p:cNvPr>
          <p:cNvSpPr txBox="1"/>
          <p:nvPr/>
        </p:nvSpPr>
        <p:spPr>
          <a:xfrm>
            <a:off x="1428750" y="2457450"/>
            <a:ext cx="9334500" cy="4191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Times New Roman"/>
              </a:rPr>
              <a:t>Intelligent Medical Inventory Tracking System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600BDED-FA90-40FC-9F95-620600E891D7}"/>
              </a:ext>
            </a:extLst>
          </p:cNvPr>
          <p:cNvSpPr txBox="1"/>
          <p:nvPr/>
        </p:nvSpPr>
        <p:spPr>
          <a:xfrm>
            <a:off x="1809750" y="3028950"/>
            <a:ext cx="8572500" cy="2857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444444"/>
                </a:solidFill>
                <a:latin typeface="Arial"/>
                <a:ea typeface="Arial"/>
              </a:rPr>
              <a:t>Group 24  ·  CCSE0355  ·  Semester III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38C6EB8-0E65-412D-9919-890F67C9071C}"/>
              </a:ext>
            </a:extLst>
          </p:cNvPr>
          <p:cNvSpPr txBox="1"/>
          <p:nvPr/>
        </p:nvSpPr>
        <p:spPr>
          <a:xfrm>
            <a:off x="1428750" y="3448050"/>
            <a:ext cx="9334500" cy="7048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11111"/>
                </a:solidFill>
                <a:latin typeface="Arial"/>
                <a:ea typeface="Arial"/>
              </a:rPr>
              <a:t>Devvrat Tripathi  ·  Manas Srivastava  ·  Pranjal Sharma  ·  Hardik Kumar  ·  Mritunjay Gupta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555555"/>
                </a:solidFill>
                <a:latin typeface="Arial"/>
                <a:ea typeface="Arial"/>
              </a:rPr>
              <a:t>0251CSAI231  ·  0251CSAI144  ·  0251CSAI141  ·  0251CSAI195  ·  0251CSAI132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2FD27A2-F245-4885-B52A-049B39EEDE11}"/>
              </a:ext>
            </a:extLst>
          </p:cNvPr>
          <p:cNvSpPr txBox="1"/>
          <p:nvPr/>
        </p:nvSpPr>
        <p:spPr>
          <a:xfrm>
            <a:off x="1428750" y="4305300"/>
            <a:ext cx="9334500" cy="2857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Arial"/>
                <a:ea typeface="Arial"/>
              </a:rPr>
              <a:t>Guided by Ms Shweta Singh &amp; Ms Barkha Bhardwaj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77C41CE-F10B-45F4-B345-9CF4F0E4B824}"/>
              </a:ext>
            </a:extLst>
          </p:cNvPr>
          <p:cNvSpPr txBox="1"/>
          <p:nvPr/>
        </p:nvSpPr>
        <p:spPr>
          <a:xfrm>
            <a:off x="1428750" y="4762500"/>
            <a:ext cx="9334500" cy="2857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87C"/>
                </a:solidFill>
                <a:latin typeface="Arial"/>
                <a:ea typeface="Arial"/>
              </a:rPr>
              <a:t>SDG 3  ·  Good Health and Well-being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A3282A2-10BE-4800-AF76-146C8CE22661}"/>
              </a:ext>
            </a:extLst>
          </p:cNvPr>
          <p:cNvSpPr txBox="1"/>
          <p:nvPr/>
        </p:nvSpPr>
        <p:spPr>
          <a:xfrm>
            <a:off x="1428750" y="5257800"/>
            <a:ext cx="9334500" cy="3238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D43438"/>
                </a:solidFill>
                <a:latin typeface="Arial"/>
                <a:ea typeface="Arial"/>
              </a:rPr>
              <a:t>Five course units. One working Java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